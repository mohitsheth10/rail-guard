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0" r:id="rId5"/>
    <p:sldId id="259" r:id="rId6"/>
    <p:sldId id="261" r:id="rId7"/>
    <p:sldId id="264" r:id="rId8"/>
    <p:sldId id="263" r:id="rId9"/>
    <p:sldId id="266"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7" d="100"/>
          <a:sy n="87" d="100"/>
        </p:scale>
        <p:origin x="499"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9833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Right now, somewhere in India, a railway worker is walking down a track in the heat, tapping bolts one by one with a hammer. My project is about making that job smarter and safer. It's called Rail-Guard — a system that catches a failing bolt before it breaks.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what are we even looking at? Where two rails meet, they're held together by a steel plate called a fishplate — bolted on with eight bolts per joint. Every time a train passes, the vibration loosens these bolts a tiny bit. Over time, they work loose. The way we find them today hasn't really changed in decades — an inspector walks the line and taps each bolt with a hammer, listening for the dull sound a loose one makes.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scale of it. India's rail network is about sixty-nine thousand kilometres. Every inch of it is checked by inspectors walking a three-to-eight kilometre beat on foot, tapping every bolt by hand. And here's the real problem — it's blind. The inspector has no way of knowing which bolt is loose until he's already standing on top of it. He checks thousands of perfectly fine bolts to find the one that isn't.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second failure that almost nobody talks about — over-tightening. When a worker tightens a bolt too hard, the joint can't flex anymore. Stress builds up at the thread, tiny cracks form that you can't see, and then the bolt snaps suddenly, with no warning at all. A loose bolt at least gives you a sign. An over-tightened one looks perfect — right up until it fails. No current inspection method can catch it. Mine can.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isn't theoretical. In 2023, the Hazara Express derailed in Pakistan — over thirty people died, and the official inquiry blamed missing fishplates and a broken rail. In 2024, in Tamil Nadu, a railway probe into a derailment found missing nuts and bolts right at the accident site. And also in 2024, in Surat, someone loosened fishplate bolts on a track — it was caught only because one inspector happened to spot it in time. The system relies on luck and human alertness. That's the gap I want to close.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my idea. Instead of sending people to walk the track, let the trains inspect it themselves. I mount a vibration sensor under an existing train. Every time it rolls over a joint, the sensor feels the vibration, a small AI model decides if the joint is healthy, loose, or over-stressed, and a GPS tags exactly where it is. No new infrastructure, no new trains — every normal run becomes an inspection.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is this better than what we do now? Today, you tap every bolt — with my system, you go only to the flagged ones. Today, one person covers a few kilometres on foot — with my system, a single train run covers the whole line. Over-tightening goes from undetectable to detected. And the worker spends his time fixing problems, not searching for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obviously can't put this on a real train yet — so I'm building a scaled model to prove the concept. This is my wiring. An ESP32 microcontroller is the brain. Five accelerometers, one per joint on my model track, connect through a multiplexer so they share one bus. A load cell measures the actual clamping force, which is how I demonstrate the over-tightening case. Vibration motors shake the track to simulate a passing train, and green and red LEDs plus a WiFi dashboard show each joint's status live.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Rail-Guard — turning every train into a track inspector, and turning a blind, exhausting job into a targeted one. Thank you — I'd be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Text 0"/>
          <p:cNvSpPr/>
          <p:nvPr/>
        </p:nvSpPr>
        <p:spPr>
          <a:xfrm>
            <a:off x="548640" y="1417320"/>
            <a:ext cx="11064240" cy="1097280"/>
          </a:xfrm>
          <a:prstGeom prst="rect">
            <a:avLst/>
          </a:prstGeom>
          <a:noFill/>
          <a:ln/>
        </p:spPr>
        <p:txBody>
          <a:bodyPr wrap="square" lIns="0" tIns="0" rIns="0" bIns="0" rtlCol="0" anchor="ctr"/>
          <a:lstStyle/>
          <a:p>
            <a:pPr marL="0" indent="0" algn="l">
              <a:buNone/>
            </a:pPr>
            <a:r>
              <a:rPr lang="en-US" sz="6200" b="1" kern="0" spc="200" dirty="0">
                <a:solidFill>
                  <a:srgbClr val="FFFFFF"/>
                </a:solidFill>
                <a:latin typeface="Calibri" pitchFamily="34" charset="0"/>
                <a:ea typeface="Calibri" pitchFamily="34" charset="-122"/>
                <a:cs typeface="Calibri" pitchFamily="34" charset="-120"/>
              </a:rPr>
              <a:t>RAIL-GUARD</a:t>
            </a:r>
            <a:endParaRPr lang="en-US" sz="6200" dirty="0"/>
          </a:p>
        </p:txBody>
      </p:sp>
      <p:sp>
        <p:nvSpPr>
          <p:cNvPr id="3" name="Text 1"/>
          <p:cNvSpPr/>
          <p:nvPr/>
        </p:nvSpPr>
        <p:spPr>
          <a:xfrm>
            <a:off x="548640" y="2606040"/>
            <a:ext cx="11064240" cy="640080"/>
          </a:xfrm>
          <a:prstGeom prst="rect">
            <a:avLst/>
          </a:prstGeom>
          <a:noFill/>
          <a:ln/>
        </p:spPr>
        <p:txBody>
          <a:bodyPr wrap="square" lIns="0" tIns="0" rIns="0" bIns="0" rtlCol="0" anchor="ctr"/>
          <a:lstStyle/>
          <a:p>
            <a:pPr marL="0" indent="0" algn="l">
              <a:buNone/>
            </a:pPr>
            <a:r>
              <a:rPr lang="en-US" sz="2600" i="1" dirty="0">
                <a:solidFill>
                  <a:srgbClr val="F9A825"/>
                </a:solidFill>
                <a:latin typeface="Calibri" pitchFamily="34" charset="0"/>
                <a:ea typeface="Calibri" pitchFamily="34" charset="-122"/>
                <a:cs typeface="Calibri" pitchFamily="34" charset="-120"/>
              </a:rPr>
              <a:t>Catching the </a:t>
            </a:r>
            <a:r>
              <a:rPr lang="en-US" sz="2600" i="1" dirty="0" smtClean="0">
                <a:solidFill>
                  <a:srgbClr val="F9A825"/>
                </a:solidFill>
                <a:latin typeface="Calibri" pitchFamily="34" charset="0"/>
                <a:ea typeface="Calibri" pitchFamily="34" charset="-122"/>
                <a:cs typeface="Calibri" pitchFamily="34" charset="-120"/>
              </a:rPr>
              <a:t>Bolt </a:t>
            </a:r>
            <a:r>
              <a:rPr lang="en-US" sz="2600" i="1" dirty="0">
                <a:solidFill>
                  <a:srgbClr val="F9A825"/>
                </a:solidFill>
                <a:latin typeface="Calibri" pitchFamily="34" charset="0"/>
                <a:ea typeface="Calibri" pitchFamily="34" charset="-122"/>
                <a:cs typeface="Calibri" pitchFamily="34" charset="-120"/>
              </a:rPr>
              <a:t>before it </a:t>
            </a:r>
            <a:r>
              <a:rPr lang="en-US" sz="2600" i="1" dirty="0" smtClean="0">
                <a:solidFill>
                  <a:srgbClr val="F9A825"/>
                </a:solidFill>
                <a:latin typeface="Calibri" pitchFamily="34" charset="0"/>
                <a:ea typeface="Calibri" pitchFamily="34" charset="-122"/>
                <a:cs typeface="Calibri" pitchFamily="34" charset="-120"/>
              </a:rPr>
              <a:t>Breaks</a:t>
            </a:r>
            <a:endParaRPr lang="en-US" sz="2600" dirty="0"/>
          </a:p>
        </p:txBody>
      </p:sp>
      <p:sp>
        <p:nvSpPr>
          <p:cNvPr id="4" name="Text 2"/>
          <p:cNvSpPr/>
          <p:nvPr/>
        </p:nvSpPr>
        <p:spPr>
          <a:xfrm>
            <a:off x="548640" y="3291840"/>
            <a:ext cx="11064240" cy="548640"/>
          </a:xfrm>
          <a:prstGeom prst="rect">
            <a:avLst/>
          </a:prstGeom>
          <a:noFill/>
          <a:ln/>
        </p:spPr>
        <p:txBody>
          <a:bodyPr wrap="square" lIns="0" tIns="0" rIns="0" bIns="0" rtlCol="0" anchor="ctr"/>
          <a:lstStyle/>
          <a:p>
            <a:pPr marL="0" indent="0" algn="l">
              <a:buNone/>
            </a:pPr>
            <a:r>
              <a:rPr lang="en-US" sz="1800" dirty="0">
                <a:solidFill>
                  <a:srgbClr val="CADCFC"/>
                </a:solidFill>
                <a:latin typeface="Calibri" pitchFamily="34" charset="0"/>
                <a:ea typeface="Calibri" pitchFamily="34" charset="-122"/>
                <a:cs typeface="Calibri" pitchFamily="34" charset="-120"/>
              </a:rPr>
              <a:t>A </a:t>
            </a:r>
            <a:r>
              <a:rPr lang="en-US" sz="1800" dirty="0" smtClean="0">
                <a:solidFill>
                  <a:srgbClr val="CADCFC"/>
                </a:solidFill>
                <a:latin typeface="Calibri" pitchFamily="34" charset="0"/>
                <a:ea typeface="Calibri" pitchFamily="34" charset="-122"/>
                <a:cs typeface="Calibri" pitchFamily="34" charset="-120"/>
              </a:rPr>
              <a:t>Vibration-Based </a:t>
            </a:r>
            <a:r>
              <a:rPr lang="en-US" dirty="0" smtClean="0">
                <a:solidFill>
                  <a:srgbClr val="CADCFC"/>
                </a:solidFill>
                <a:latin typeface="Calibri" pitchFamily="34" charset="0"/>
                <a:ea typeface="Calibri" pitchFamily="34" charset="-122"/>
                <a:cs typeface="Calibri" pitchFamily="34" charset="-120"/>
              </a:rPr>
              <a:t>E</a:t>
            </a:r>
            <a:r>
              <a:rPr lang="en-US" sz="1800" dirty="0" smtClean="0">
                <a:solidFill>
                  <a:srgbClr val="CADCFC"/>
                </a:solidFill>
                <a:latin typeface="Calibri" pitchFamily="34" charset="0"/>
                <a:ea typeface="Calibri" pitchFamily="34" charset="-122"/>
                <a:cs typeface="Calibri" pitchFamily="34" charset="-120"/>
              </a:rPr>
              <a:t>arly-Warning </a:t>
            </a:r>
            <a:r>
              <a:rPr lang="en-US" dirty="0">
                <a:solidFill>
                  <a:srgbClr val="CADCFC"/>
                </a:solidFill>
                <a:latin typeface="Calibri" pitchFamily="34" charset="0"/>
                <a:ea typeface="Calibri" pitchFamily="34" charset="-122"/>
                <a:cs typeface="Calibri" pitchFamily="34" charset="-120"/>
              </a:rPr>
              <a:t>S</a:t>
            </a:r>
            <a:r>
              <a:rPr lang="en-US" sz="1800" dirty="0" smtClean="0">
                <a:solidFill>
                  <a:srgbClr val="CADCFC"/>
                </a:solidFill>
                <a:latin typeface="Calibri" pitchFamily="34" charset="0"/>
                <a:ea typeface="Calibri" pitchFamily="34" charset="-122"/>
                <a:cs typeface="Calibri" pitchFamily="34" charset="-120"/>
              </a:rPr>
              <a:t>ystem </a:t>
            </a:r>
            <a:r>
              <a:rPr lang="en-US" sz="1800" dirty="0">
                <a:solidFill>
                  <a:srgbClr val="CADCFC"/>
                </a:solidFill>
                <a:latin typeface="Calibri" pitchFamily="34" charset="0"/>
                <a:ea typeface="Calibri" pitchFamily="34" charset="-122"/>
                <a:cs typeface="Calibri" pitchFamily="34" charset="-120"/>
              </a:rPr>
              <a:t>for </a:t>
            </a:r>
            <a:r>
              <a:rPr lang="en-US" sz="1800" dirty="0" smtClean="0">
                <a:solidFill>
                  <a:srgbClr val="CADCFC"/>
                </a:solidFill>
                <a:latin typeface="Calibri" pitchFamily="34" charset="0"/>
                <a:ea typeface="Calibri" pitchFamily="34" charset="-122"/>
                <a:cs typeface="Calibri" pitchFamily="34" charset="-120"/>
              </a:rPr>
              <a:t>Railway </a:t>
            </a:r>
            <a:r>
              <a:rPr lang="en-US" dirty="0">
                <a:solidFill>
                  <a:srgbClr val="CADCFC"/>
                </a:solidFill>
                <a:latin typeface="Calibri" pitchFamily="34" charset="0"/>
                <a:ea typeface="Calibri" pitchFamily="34" charset="-122"/>
                <a:cs typeface="Calibri" pitchFamily="34" charset="-120"/>
              </a:rPr>
              <a:t>F</a:t>
            </a:r>
            <a:r>
              <a:rPr lang="en-US" sz="1800" dirty="0" smtClean="0">
                <a:solidFill>
                  <a:srgbClr val="CADCFC"/>
                </a:solidFill>
                <a:latin typeface="Calibri" pitchFamily="34" charset="0"/>
                <a:ea typeface="Calibri" pitchFamily="34" charset="-122"/>
                <a:cs typeface="Calibri" pitchFamily="34" charset="-120"/>
              </a:rPr>
              <a:t>ishplate </a:t>
            </a:r>
            <a:r>
              <a:rPr lang="en-US" dirty="0">
                <a:solidFill>
                  <a:srgbClr val="CADCFC"/>
                </a:solidFill>
                <a:latin typeface="Calibri" pitchFamily="34" charset="0"/>
                <a:ea typeface="Calibri" pitchFamily="34" charset="-122"/>
                <a:cs typeface="Calibri" pitchFamily="34" charset="-120"/>
              </a:rPr>
              <a:t>J</a:t>
            </a:r>
            <a:r>
              <a:rPr lang="en-US" sz="1800" dirty="0" smtClean="0">
                <a:solidFill>
                  <a:srgbClr val="CADCFC"/>
                </a:solidFill>
                <a:latin typeface="Calibri" pitchFamily="34" charset="0"/>
                <a:ea typeface="Calibri" pitchFamily="34" charset="-122"/>
                <a:cs typeface="Calibri" pitchFamily="34" charset="-120"/>
              </a:rPr>
              <a:t>oints</a:t>
            </a:r>
            <a:endParaRPr lang="en-US" sz="1800" dirty="0"/>
          </a:p>
        </p:txBody>
      </p:sp>
      <p:sp>
        <p:nvSpPr>
          <p:cNvPr id="5" name="Shape 3"/>
          <p:cNvSpPr/>
          <p:nvPr/>
        </p:nvSpPr>
        <p:spPr>
          <a:xfrm>
            <a:off x="7955280" y="5166360"/>
            <a:ext cx="1746504" cy="310896"/>
          </a:xfrm>
          <a:prstGeom prst="rect">
            <a:avLst/>
          </a:prstGeom>
          <a:solidFill>
            <a:srgbClr val="B0BEC5"/>
          </a:solidFill>
          <a:ln/>
        </p:spPr>
      </p:sp>
      <p:sp>
        <p:nvSpPr>
          <p:cNvPr id="6" name="Shape 4"/>
          <p:cNvSpPr/>
          <p:nvPr/>
        </p:nvSpPr>
        <p:spPr>
          <a:xfrm>
            <a:off x="9866376" y="5166360"/>
            <a:ext cx="1746504" cy="310896"/>
          </a:xfrm>
          <a:prstGeom prst="rect">
            <a:avLst/>
          </a:prstGeom>
          <a:solidFill>
            <a:srgbClr val="B0BEC5"/>
          </a:solidFill>
          <a:ln/>
        </p:spPr>
      </p:sp>
      <p:sp>
        <p:nvSpPr>
          <p:cNvPr id="7" name="Shape 5"/>
          <p:cNvSpPr/>
          <p:nvPr/>
        </p:nvSpPr>
        <p:spPr>
          <a:xfrm>
            <a:off x="8613648" y="5029200"/>
            <a:ext cx="2340864" cy="457200"/>
          </a:xfrm>
          <a:prstGeom prst="roundRect">
            <a:avLst>
              <a:gd name="adj" fmla="val 12000"/>
            </a:avLst>
          </a:prstGeom>
          <a:solidFill>
            <a:srgbClr val="78909C"/>
          </a:solidFill>
          <a:ln/>
          <a:effectLst>
            <a:outerShdw blurRad="88900" dist="38100" dir="5400000" algn="bl" rotWithShape="0">
              <a:srgbClr val="000000">
                <a:alpha val="12000"/>
              </a:srgbClr>
            </a:outerShdw>
          </a:effectLst>
        </p:spPr>
      </p:sp>
      <p:sp>
        <p:nvSpPr>
          <p:cNvPr id="8" name="Shape 6"/>
          <p:cNvSpPr/>
          <p:nvPr/>
        </p:nvSpPr>
        <p:spPr>
          <a:xfrm>
            <a:off x="8787384" y="5175504"/>
            <a:ext cx="164592" cy="164592"/>
          </a:xfrm>
          <a:prstGeom prst="ellipse">
            <a:avLst/>
          </a:prstGeom>
          <a:solidFill>
            <a:srgbClr val="F9A825"/>
          </a:solidFill>
          <a:ln/>
        </p:spPr>
      </p:sp>
      <p:sp>
        <p:nvSpPr>
          <p:cNvPr id="9" name="Shape 7"/>
          <p:cNvSpPr/>
          <p:nvPr/>
        </p:nvSpPr>
        <p:spPr>
          <a:xfrm>
            <a:off x="9396984" y="5175504"/>
            <a:ext cx="164592" cy="164592"/>
          </a:xfrm>
          <a:prstGeom prst="ellipse">
            <a:avLst/>
          </a:prstGeom>
          <a:solidFill>
            <a:srgbClr val="F9A825"/>
          </a:solidFill>
          <a:ln/>
        </p:spPr>
      </p:sp>
      <p:sp>
        <p:nvSpPr>
          <p:cNvPr id="10" name="Shape 8"/>
          <p:cNvSpPr/>
          <p:nvPr/>
        </p:nvSpPr>
        <p:spPr>
          <a:xfrm>
            <a:off x="10006584" y="5175504"/>
            <a:ext cx="164592" cy="164592"/>
          </a:xfrm>
          <a:prstGeom prst="ellipse">
            <a:avLst/>
          </a:prstGeom>
          <a:solidFill>
            <a:srgbClr val="F9A825"/>
          </a:solidFill>
          <a:ln/>
        </p:spPr>
      </p:sp>
      <p:sp>
        <p:nvSpPr>
          <p:cNvPr id="11" name="Shape 9"/>
          <p:cNvSpPr/>
          <p:nvPr/>
        </p:nvSpPr>
        <p:spPr>
          <a:xfrm>
            <a:off x="10616184" y="5175504"/>
            <a:ext cx="164592" cy="164592"/>
          </a:xfrm>
          <a:prstGeom prst="ellipse">
            <a:avLst/>
          </a:prstGeom>
          <a:solidFill>
            <a:srgbClr val="F9A825"/>
          </a:solidFill>
          <a:ln/>
        </p:spPr>
      </p:sp>
      <p:sp>
        <p:nvSpPr>
          <p:cNvPr id="12" name="Text 10"/>
          <p:cNvSpPr/>
          <p:nvPr/>
        </p:nvSpPr>
        <p:spPr>
          <a:xfrm>
            <a:off x="7955280" y="5623560"/>
            <a:ext cx="3657600" cy="274320"/>
          </a:xfrm>
          <a:prstGeom prst="rect">
            <a:avLst/>
          </a:prstGeom>
          <a:noFill/>
          <a:ln/>
        </p:spPr>
        <p:txBody>
          <a:bodyPr wrap="square" rtlCol="0" anchor="ctr"/>
          <a:lstStyle/>
          <a:p>
            <a:pPr marL="0" indent="0" algn="ctr">
              <a:buNone/>
            </a:pPr>
            <a:r>
              <a:rPr lang="en-US" sz="1100" i="1" dirty="0">
                <a:solidFill>
                  <a:srgbClr val="CADCFC"/>
                </a:solidFill>
                <a:latin typeface="Calibri" pitchFamily="34" charset="0"/>
                <a:ea typeface="Calibri" pitchFamily="34" charset="-122"/>
                <a:cs typeface="Calibri" pitchFamily="34" charset="-120"/>
              </a:rPr>
              <a:t>fishplate joint · 8 bolts</a:t>
            </a:r>
            <a:endParaRPr lang="en-US" sz="1100" dirty="0"/>
          </a:p>
        </p:txBody>
      </p:sp>
      <p:sp>
        <p:nvSpPr>
          <p:cNvPr id="13" name="Text 11"/>
          <p:cNvSpPr/>
          <p:nvPr/>
        </p:nvSpPr>
        <p:spPr>
          <a:xfrm>
            <a:off x="548640" y="6126480"/>
            <a:ext cx="11064240" cy="457200"/>
          </a:xfrm>
          <a:prstGeom prst="rect">
            <a:avLst/>
          </a:prstGeom>
          <a:noFill/>
          <a:ln/>
        </p:spPr>
        <p:txBody>
          <a:bodyPr wrap="square" lIns="0" tIns="0" rIns="0" bIns="0" rtlCol="0" anchor="ctr"/>
          <a:lstStyle/>
          <a:p>
            <a:pPr marL="0" indent="0" algn="l">
              <a:buNone/>
            </a:pPr>
            <a:r>
              <a:rPr lang="en-US" sz="1500" b="1" dirty="0">
                <a:solidFill>
                  <a:srgbClr val="CADCFC"/>
                </a:solidFill>
                <a:latin typeface="Calibri" pitchFamily="34" charset="0"/>
                <a:ea typeface="Calibri" pitchFamily="34" charset="-122"/>
                <a:cs typeface="Calibri" pitchFamily="34" charset="-120"/>
              </a:rPr>
              <a:t>Mohit Sheth</a:t>
            </a:r>
            <a:r>
              <a:rPr lang="en-US" sz="1500" dirty="0">
                <a:solidFill>
                  <a:srgbClr val="CADCFC"/>
                </a:solidFill>
                <a:latin typeface="Calibri" pitchFamily="34" charset="0"/>
                <a:ea typeface="Calibri" pitchFamily="34" charset="-122"/>
                <a:cs typeface="Calibri" pitchFamily="34" charset="-120"/>
              </a:rPr>
              <a:t>  ·  Dhirubhai Ambani International School, Mumbai  ·  DAIS × OMOTEC </a:t>
            </a:r>
            <a:r>
              <a:rPr lang="en-US" sz="1500" dirty="0" smtClean="0">
                <a:solidFill>
                  <a:srgbClr val="CADCFC"/>
                </a:solidFill>
                <a:latin typeface="Calibri" pitchFamily="34" charset="0"/>
                <a:ea typeface="Calibri" pitchFamily="34" charset="-122"/>
                <a:cs typeface="Calibri" pitchFamily="34" charset="-120"/>
              </a:rPr>
              <a:t>2026–27</a:t>
            </a:r>
            <a:endParaRPr lang="en-US" sz="15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9184"/>
            <a:ext cx="11064240" cy="777240"/>
          </a:xfrm>
          <a:prstGeom prst="rect">
            <a:avLst/>
          </a:prstGeom>
          <a:noFill/>
          <a:ln/>
        </p:spPr>
        <p:txBody>
          <a:bodyPr wrap="square" lIns="0" tIns="0" rIns="0" bIns="0" rtlCol="0" anchor="ctr"/>
          <a:lstStyle/>
          <a:p>
            <a:pPr marL="0" indent="0" algn="l">
              <a:buNone/>
            </a:pPr>
            <a:r>
              <a:rPr lang="en-US" sz="3200" b="1" dirty="0" smtClean="0">
                <a:solidFill>
                  <a:srgbClr val="102A43"/>
                </a:solidFill>
                <a:latin typeface="Calibri" pitchFamily="34" charset="0"/>
                <a:ea typeface="Calibri" pitchFamily="34" charset="-122"/>
                <a:cs typeface="Calibri" pitchFamily="34" charset="-120"/>
              </a:rPr>
              <a:t>The Problem Statement</a:t>
            </a:r>
            <a:endParaRPr lang="en-US" sz="3200" dirty="0"/>
          </a:p>
        </p:txBody>
      </p:sp>
      <p:sp>
        <p:nvSpPr>
          <p:cNvPr id="3" name="Shape 1"/>
          <p:cNvSpPr/>
          <p:nvPr/>
        </p:nvSpPr>
        <p:spPr>
          <a:xfrm>
            <a:off x="548640" y="1554480"/>
            <a:ext cx="566928" cy="566928"/>
          </a:xfrm>
          <a:prstGeom prst="ellipse">
            <a:avLst/>
          </a:prstGeom>
          <a:solidFill>
            <a:srgbClr val="F9A825"/>
          </a:solidFill>
          <a:ln/>
        </p:spPr>
      </p:sp>
      <p:sp>
        <p:nvSpPr>
          <p:cNvPr id="4" name="Text 2"/>
          <p:cNvSpPr/>
          <p:nvPr/>
        </p:nvSpPr>
        <p:spPr>
          <a:xfrm>
            <a:off x="548640" y="1554480"/>
            <a:ext cx="566928" cy="566928"/>
          </a:xfrm>
          <a:prstGeom prst="rect">
            <a:avLst/>
          </a:prstGeom>
          <a:noFill/>
          <a:ln/>
        </p:spPr>
        <p:txBody>
          <a:bodyPr wrap="square" lIns="0" tIns="0" rIns="0" bIns="0" rtlCol="0" anchor="ctr"/>
          <a:lstStyle/>
          <a:p>
            <a:pPr marL="0" indent="0" algn="ctr">
              <a:buNone/>
            </a:pPr>
            <a:r>
              <a:rPr lang="en-US" sz="2400" b="1" dirty="0">
                <a:solidFill>
                  <a:srgbClr val="102A43"/>
                </a:solidFill>
                <a:latin typeface="Calibri" pitchFamily="34" charset="0"/>
                <a:ea typeface="Calibri" pitchFamily="34" charset="-122"/>
                <a:cs typeface="Calibri" pitchFamily="34" charset="-120"/>
              </a:rPr>
              <a:t>1</a:t>
            </a:r>
            <a:endParaRPr lang="en-US" sz="2400" dirty="0"/>
          </a:p>
        </p:txBody>
      </p:sp>
      <p:sp>
        <p:nvSpPr>
          <p:cNvPr id="5" name="Text 3"/>
          <p:cNvSpPr/>
          <p:nvPr/>
        </p:nvSpPr>
        <p:spPr>
          <a:xfrm>
            <a:off x="1325880" y="1508760"/>
            <a:ext cx="5120640" cy="411480"/>
          </a:xfrm>
          <a:prstGeom prst="rect">
            <a:avLst/>
          </a:prstGeom>
          <a:noFill/>
          <a:ln/>
        </p:spPr>
        <p:txBody>
          <a:bodyPr wrap="square" lIns="0" tIns="0" rIns="0" bIns="0" rtlCol="0" anchor="ctr"/>
          <a:lstStyle/>
          <a:p>
            <a:pPr marL="0" indent="0">
              <a:buNone/>
            </a:pPr>
            <a:r>
              <a:rPr lang="en-US" sz="1900" b="1" dirty="0">
                <a:solidFill>
                  <a:srgbClr val="102A43"/>
                </a:solidFill>
                <a:latin typeface="Calibri" pitchFamily="34" charset="0"/>
                <a:ea typeface="Calibri" pitchFamily="34" charset="-122"/>
                <a:cs typeface="Calibri" pitchFamily="34" charset="-120"/>
              </a:rPr>
              <a:t>A </a:t>
            </a:r>
            <a:r>
              <a:rPr lang="en-US" sz="1900" b="1" dirty="0" smtClean="0">
                <a:solidFill>
                  <a:srgbClr val="102A43"/>
                </a:solidFill>
                <a:latin typeface="Calibri" pitchFamily="34" charset="0"/>
                <a:ea typeface="Calibri" pitchFamily="34" charset="-122"/>
                <a:cs typeface="Calibri" pitchFamily="34" charset="-120"/>
              </a:rPr>
              <a:t>Fishplate Joins/Connects </a:t>
            </a:r>
            <a:r>
              <a:rPr lang="en-US" sz="1900" b="1" dirty="0">
                <a:solidFill>
                  <a:srgbClr val="102A43"/>
                </a:solidFill>
                <a:latin typeface="Calibri" pitchFamily="34" charset="0"/>
                <a:ea typeface="Calibri" pitchFamily="34" charset="-122"/>
                <a:cs typeface="Calibri" pitchFamily="34" charset="-120"/>
              </a:rPr>
              <a:t>T</a:t>
            </a:r>
            <a:r>
              <a:rPr lang="en-US" sz="1900" b="1" dirty="0" smtClean="0">
                <a:solidFill>
                  <a:srgbClr val="102A43"/>
                </a:solidFill>
                <a:latin typeface="Calibri" pitchFamily="34" charset="0"/>
                <a:ea typeface="Calibri" pitchFamily="34" charset="-122"/>
                <a:cs typeface="Calibri" pitchFamily="34" charset="-120"/>
              </a:rPr>
              <a:t>wo </a:t>
            </a:r>
            <a:r>
              <a:rPr lang="en-US" sz="1900" b="1" dirty="0">
                <a:solidFill>
                  <a:srgbClr val="102A43"/>
                </a:solidFill>
                <a:latin typeface="Calibri" pitchFamily="34" charset="0"/>
                <a:ea typeface="Calibri" pitchFamily="34" charset="-122"/>
                <a:cs typeface="Calibri" pitchFamily="34" charset="-120"/>
              </a:rPr>
              <a:t>R</a:t>
            </a:r>
            <a:r>
              <a:rPr lang="en-US" sz="1900" b="1" dirty="0" smtClean="0">
                <a:solidFill>
                  <a:srgbClr val="102A43"/>
                </a:solidFill>
                <a:latin typeface="Calibri" pitchFamily="34" charset="0"/>
                <a:ea typeface="Calibri" pitchFamily="34" charset="-122"/>
                <a:cs typeface="Calibri" pitchFamily="34" charset="-120"/>
              </a:rPr>
              <a:t>ails</a:t>
            </a:r>
            <a:endParaRPr lang="en-US" sz="1900" dirty="0"/>
          </a:p>
        </p:txBody>
      </p:sp>
      <p:sp>
        <p:nvSpPr>
          <p:cNvPr id="6" name="Text 4"/>
          <p:cNvSpPr/>
          <p:nvPr/>
        </p:nvSpPr>
        <p:spPr>
          <a:xfrm>
            <a:off x="1325880" y="1901952"/>
            <a:ext cx="5120640" cy="640080"/>
          </a:xfrm>
          <a:prstGeom prst="rect">
            <a:avLst/>
          </a:prstGeom>
          <a:noFill/>
          <a:ln/>
        </p:spPr>
        <p:txBody>
          <a:bodyPr wrap="square" lIns="0" tIns="0" rIns="0" bIns="0" rtlCol="0" anchor="ctr"/>
          <a:lstStyle/>
          <a:p>
            <a:pPr marL="0" indent="0">
              <a:buNone/>
            </a:pPr>
            <a:r>
              <a:rPr lang="en-US" sz="1400" dirty="0">
                <a:solidFill>
                  <a:srgbClr val="486581"/>
                </a:solidFill>
                <a:latin typeface="Calibri" pitchFamily="34" charset="0"/>
                <a:ea typeface="Calibri" pitchFamily="34" charset="-122"/>
                <a:cs typeface="Calibri" pitchFamily="34" charset="-120"/>
              </a:rPr>
              <a:t>Two steel plates +  8 bolts -&gt;  hold the rail ends together.</a:t>
            </a:r>
            <a:endParaRPr lang="en-US" sz="1400" dirty="0"/>
          </a:p>
        </p:txBody>
      </p:sp>
      <p:sp>
        <p:nvSpPr>
          <p:cNvPr id="7" name="Shape 5"/>
          <p:cNvSpPr/>
          <p:nvPr/>
        </p:nvSpPr>
        <p:spPr>
          <a:xfrm>
            <a:off x="548640" y="2971800"/>
            <a:ext cx="566928" cy="566928"/>
          </a:xfrm>
          <a:prstGeom prst="ellipse">
            <a:avLst/>
          </a:prstGeom>
          <a:solidFill>
            <a:srgbClr val="F9A825"/>
          </a:solidFill>
          <a:ln/>
        </p:spPr>
      </p:sp>
      <p:sp>
        <p:nvSpPr>
          <p:cNvPr id="8" name="Text 6"/>
          <p:cNvSpPr/>
          <p:nvPr/>
        </p:nvSpPr>
        <p:spPr>
          <a:xfrm>
            <a:off x="548640" y="2971800"/>
            <a:ext cx="566928" cy="566928"/>
          </a:xfrm>
          <a:prstGeom prst="rect">
            <a:avLst/>
          </a:prstGeom>
          <a:noFill/>
          <a:ln/>
        </p:spPr>
        <p:txBody>
          <a:bodyPr wrap="square" lIns="0" tIns="0" rIns="0" bIns="0" rtlCol="0" anchor="ctr"/>
          <a:lstStyle/>
          <a:p>
            <a:pPr marL="0" indent="0" algn="ctr">
              <a:buNone/>
            </a:pPr>
            <a:r>
              <a:rPr lang="en-US" sz="2400" b="1" dirty="0">
                <a:solidFill>
                  <a:srgbClr val="102A43"/>
                </a:solidFill>
                <a:latin typeface="Calibri" pitchFamily="34" charset="0"/>
                <a:ea typeface="Calibri" pitchFamily="34" charset="-122"/>
                <a:cs typeface="Calibri" pitchFamily="34" charset="-120"/>
              </a:rPr>
              <a:t>2</a:t>
            </a:r>
            <a:endParaRPr lang="en-US" sz="2400" dirty="0"/>
          </a:p>
        </p:txBody>
      </p:sp>
      <p:sp>
        <p:nvSpPr>
          <p:cNvPr id="9" name="Text 7"/>
          <p:cNvSpPr/>
          <p:nvPr/>
        </p:nvSpPr>
        <p:spPr>
          <a:xfrm>
            <a:off x="1325880" y="2926080"/>
            <a:ext cx="5120640" cy="411480"/>
          </a:xfrm>
          <a:prstGeom prst="rect">
            <a:avLst/>
          </a:prstGeom>
          <a:noFill/>
          <a:ln/>
        </p:spPr>
        <p:txBody>
          <a:bodyPr wrap="square" lIns="0" tIns="0" rIns="0" bIns="0" rtlCol="0" anchor="ctr"/>
          <a:lstStyle/>
          <a:p>
            <a:pPr marL="0" indent="0">
              <a:buNone/>
            </a:pPr>
            <a:r>
              <a:rPr lang="en-US" sz="1900" b="1" dirty="0">
                <a:solidFill>
                  <a:srgbClr val="102A43"/>
                </a:solidFill>
                <a:latin typeface="Calibri" pitchFamily="34" charset="0"/>
                <a:ea typeface="Calibri" pitchFamily="34" charset="-122"/>
                <a:cs typeface="Calibri" pitchFamily="34" charset="-120"/>
              </a:rPr>
              <a:t>Trains </a:t>
            </a:r>
            <a:r>
              <a:rPr lang="en-US" sz="1900" b="1" dirty="0" smtClean="0">
                <a:solidFill>
                  <a:srgbClr val="102A43"/>
                </a:solidFill>
                <a:latin typeface="Calibri" pitchFamily="34" charset="0"/>
                <a:ea typeface="Calibri" pitchFamily="34" charset="-122"/>
                <a:cs typeface="Calibri" pitchFamily="34" charset="-120"/>
              </a:rPr>
              <a:t>Vibrate -&gt;  Bolts </a:t>
            </a:r>
            <a:r>
              <a:rPr lang="en-US" sz="1900" b="1" dirty="0">
                <a:solidFill>
                  <a:srgbClr val="102A43"/>
                </a:solidFill>
                <a:latin typeface="Calibri" pitchFamily="34" charset="0"/>
                <a:ea typeface="Calibri" pitchFamily="34" charset="-122"/>
                <a:cs typeface="Calibri" pitchFamily="34" charset="-120"/>
              </a:rPr>
              <a:t>L</a:t>
            </a:r>
            <a:r>
              <a:rPr lang="en-US" sz="1900" b="1" dirty="0" smtClean="0">
                <a:solidFill>
                  <a:srgbClr val="102A43"/>
                </a:solidFill>
                <a:latin typeface="Calibri" pitchFamily="34" charset="0"/>
                <a:ea typeface="Calibri" pitchFamily="34" charset="-122"/>
                <a:cs typeface="Calibri" pitchFamily="34" charset="-120"/>
              </a:rPr>
              <a:t>oose</a:t>
            </a:r>
            <a:endParaRPr lang="en-US" sz="1900" dirty="0"/>
          </a:p>
        </p:txBody>
      </p:sp>
      <p:sp>
        <p:nvSpPr>
          <p:cNvPr id="10" name="Text 8"/>
          <p:cNvSpPr/>
          <p:nvPr/>
        </p:nvSpPr>
        <p:spPr>
          <a:xfrm>
            <a:off x="1325880" y="3319272"/>
            <a:ext cx="5120640" cy="640080"/>
          </a:xfrm>
          <a:prstGeom prst="rect">
            <a:avLst/>
          </a:prstGeom>
          <a:noFill/>
          <a:ln/>
        </p:spPr>
        <p:txBody>
          <a:bodyPr wrap="square" lIns="0" tIns="0" rIns="0" bIns="0" rtlCol="0" anchor="ctr"/>
          <a:lstStyle/>
          <a:p>
            <a:pPr marL="0" indent="0">
              <a:buNone/>
            </a:pPr>
            <a:r>
              <a:rPr lang="en-US" sz="1400" dirty="0">
                <a:solidFill>
                  <a:srgbClr val="486581"/>
                </a:solidFill>
                <a:latin typeface="Calibri" pitchFamily="34" charset="0"/>
                <a:ea typeface="Calibri" pitchFamily="34" charset="-122"/>
                <a:cs typeface="Calibri" pitchFamily="34" charset="-120"/>
              </a:rPr>
              <a:t>Every passing train slowly works the bolts loose over </a:t>
            </a:r>
            <a:r>
              <a:rPr lang="en-US" sz="1400" dirty="0" smtClean="0">
                <a:solidFill>
                  <a:srgbClr val="486581"/>
                </a:solidFill>
                <a:latin typeface="Calibri" pitchFamily="34" charset="0"/>
                <a:ea typeface="Calibri" pitchFamily="34" charset="-122"/>
                <a:cs typeface="Calibri" pitchFamily="34" charset="-120"/>
              </a:rPr>
              <a:t>time.</a:t>
            </a:r>
          </a:p>
          <a:p>
            <a:pPr marL="0" indent="0">
              <a:buNone/>
            </a:pPr>
            <a:r>
              <a:rPr lang="en-US" sz="1400" dirty="0" smtClean="0">
                <a:solidFill>
                  <a:srgbClr val="486581"/>
                </a:solidFill>
                <a:latin typeface="Calibri" pitchFamily="34" charset="0"/>
                <a:ea typeface="Calibri" pitchFamily="34" charset="-122"/>
                <a:cs typeface="Calibri" pitchFamily="34" charset="-120"/>
              </a:rPr>
              <a:t>This can cause train derailment.</a:t>
            </a:r>
            <a:endParaRPr lang="en-US" sz="1400" dirty="0"/>
          </a:p>
        </p:txBody>
      </p:sp>
      <p:sp>
        <p:nvSpPr>
          <p:cNvPr id="11" name="Shape 9"/>
          <p:cNvSpPr/>
          <p:nvPr/>
        </p:nvSpPr>
        <p:spPr>
          <a:xfrm>
            <a:off x="548640" y="4389120"/>
            <a:ext cx="566928" cy="566928"/>
          </a:xfrm>
          <a:prstGeom prst="ellipse">
            <a:avLst/>
          </a:prstGeom>
          <a:solidFill>
            <a:srgbClr val="F9A825"/>
          </a:solidFill>
          <a:ln/>
        </p:spPr>
      </p:sp>
      <p:sp>
        <p:nvSpPr>
          <p:cNvPr id="12" name="Text 10"/>
          <p:cNvSpPr/>
          <p:nvPr/>
        </p:nvSpPr>
        <p:spPr>
          <a:xfrm>
            <a:off x="548640" y="4389120"/>
            <a:ext cx="566928" cy="566928"/>
          </a:xfrm>
          <a:prstGeom prst="rect">
            <a:avLst/>
          </a:prstGeom>
          <a:noFill/>
          <a:ln/>
        </p:spPr>
        <p:txBody>
          <a:bodyPr wrap="square" lIns="0" tIns="0" rIns="0" bIns="0" rtlCol="0" anchor="ctr"/>
          <a:lstStyle/>
          <a:p>
            <a:pPr marL="0" indent="0" algn="ctr">
              <a:buNone/>
            </a:pPr>
            <a:r>
              <a:rPr lang="en-US" sz="2400" b="1" dirty="0">
                <a:solidFill>
                  <a:srgbClr val="102A43"/>
                </a:solidFill>
                <a:latin typeface="Calibri" pitchFamily="34" charset="0"/>
                <a:ea typeface="Calibri" pitchFamily="34" charset="-122"/>
                <a:cs typeface="Calibri" pitchFamily="34" charset="-120"/>
              </a:rPr>
              <a:t>3</a:t>
            </a:r>
            <a:endParaRPr lang="en-US" sz="2400" dirty="0"/>
          </a:p>
        </p:txBody>
      </p:sp>
      <p:sp>
        <p:nvSpPr>
          <p:cNvPr id="13" name="Text 11"/>
          <p:cNvSpPr/>
          <p:nvPr/>
        </p:nvSpPr>
        <p:spPr>
          <a:xfrm>
            <a:off x="1325880" y="4343400"/>
            <a:ext cx="5120640" cy="411480"/>
          </a:xfrm>
          <a:prstGeom prst="rect">
            <a:avLst/>
          </a:prstGeom>
          <a:noFill/>
          <a:ln/>
        </p:spPr>
        <p:txBody>
          <a:bodyPr wrap="square" lIns="0" tIns="0" rIns="0" bIns="0" rtlCol="0" anchor="ctr"/>
          <a:lstStyle/>
          <a:p>
            <a:pPr marL="0" indent="0">
              <a:buNone/>
            </a:pPr>
            <a:r>
              <a:rPr lang="en-US" sz="1900" b="1" dirty="0">
                <a:solidFill>
                  <a:srgbClr val="102A43"/>
                </a:solidFill>
                <a:latin typeface="Calibri" pitchFamily="34" charset="0"/>
                <a:ea typeface="Calibri" pitchFamily="34" charset="-122"/>
                <a:cs typeface="Calibri" pitchFamily="34" charset="-120"/>
              </a:rPr>
              <a:t>Inspectors </a:t>
            </a:r>
            <a:r>
              <a:rPr lang="en-US" sz="1900" b="1" dirty="0" smtClean="0">
                <a:solidFill>
                  <a:srgbClr val="102A43"/>
                </a:solidFill>
                <a:latin typeface="Calibri" pitchFamily="34" charset="0"/>
                <a:ea typeface="Calibri" pitchFamily="34" charset="-122"/>
                <a:cs typeface="Calibri" pitchFamily="34" charset="-120"/>
              </a:rPr>
              <a:t>Check </a:t>
            </a:r>
            <a:r>
              <a:rPr lang="en-US" sz="1900" b="1" dirty="0">
                <a:solidFill>
                  <a:srgbClr val="102A43"/>
                </a:solidFill>
                <a:latin typeface="Calibri" pitchFamily="34" charset="0"/>
                <a:ea typeface="Calibri" pitchFamily="34" charset="-122"/>
                <a:cs typeface="Calibri" pitchFamily="34" charset="-120"/>
              </a:rPr>
              <a:t>each </a:t>
            </a:r>
            <a:r>
              <a:rPr lang="en-US" sz="1900" b="1" dirty="0" smtClean="0">
                <a:solidFill>
                  <a:srgbClr val="102A43"/>
                </a:solidFill>
                <a:latin typeface="Calibri" pitchFamily="34" charset="0"/>
                <a:ea typeface="Calibri" pitchFamily="34" charset="-122"/>
                <a:cs typeface="Calibri" pitchFamily="34" charset="-120"/>
              </a:rPr>
              <a:t>Bolt </a:t>
            </a:r>
            <a:r>
              <a:rPr lang="en-US" sz="1900" b="1" dirty="0">
                <a:solidFill>
                  <a:srgbClr val="102A43"/>
                </a:solidFill>
                <a:latin typeface="Calibri" pitchFamily="34" charset="0"/>
                <a:ea typeface="Calibri" pitchFamily="34" charset="-122"/>
                <a:cs typeface="Calibri" pitchFamily="34" charset="-120"/>
              </a:rPr>
              <a:t>by </a:t>
            </a:r>
            <a:r>
              <a:rPr lang="en-US" sz="1900" b="1" dirty="0" smtClean="0">
                <a:solidFill>
                  <a:srgbClr val="102A43"/>
                </a:solidFill>
                <a:latin typeface="Calibri" pitchFamily="34" charset="0"/>
                <a:ea typeface="Calibri" pitchFamily="34" charset="-122"/>
                <a:cs typeface="Calibri" pitchFamily="34" charset="-120"/>
              </a:rPr>
              <a:t>Hand</a:t>
            </a:r>
            <a:endParaRPr lang="en-US" sz="1900" dirty="0"/>
          </a:p>
        </p:txBody>
      </p:sp>
      <p:sp>
        <p:nvSpPr>
          <p:cNvPr id="14" name="Text 12"/>
          <p:cNvSpPr/>
          <p:nvPr/>
        </p:nvSpPr>
        <p:spPr>
          <a:xfrm>
            <a:off x="1325880" y="4736592"/>
            <a:ext cx="5120640" cy="640080"/>
          </a:xfrm>
          <a:prstGeom prst="rect">
            <a:avLst/>
          </a:prstGeom>
          <a:noFill/>
          <a:ln/>
        </p:spPr>
        <p:txBody>
          <a:bodyPr wrap="square" lIns="0" tIns="0" rIns="0" bIns="0" rtlCol="0" anchor="ctr"/>
          <a:lstStyle/>
          <a:p>
            <a:pPr marL="0" indent="0">
              <a:buNone/>
            </a:pPr>
            <a:r>
              <a:rPr lang="en-US" sz="1400" dirty="0">
                <a:solidFill>
                  <a:srgbClr val="486581"/>
                </a:solidFill>
                <a:latin typeface="Calibri" pitchFamily="34" charset="0"/>
                <a:ea typeface="Calibri" pitchFamily="34" charset="-122"/>
                <a:cs typeface="Calibri" pitchFamily="34" charset="-120"/>
              </a:rPr>
              <a:t>A worker walks the line and hammers every bolt, listening for loose ones.</a:t>
            </a:r>
            <a:endParaRPr lang="en-US" sz="1400" dirty="0"/>
          </a:p>
        </p:txBody>
      </p:sp>
      <p:sp>
        <p:nvSpPr>
          <p:cNvPr id="15" name="Shape 13"/>
          <p:cNvSpPr/>
          <p:nvPr/>
        </p:nvSpPr>
        <p:spPr>
          <a:xfrm>
            <a:off x="7175836" y="3811993"/>
            <a:ext cx="2020824" cy="310896"/>
          </a:xfrm>
          <a:prstGeom prst="rect">
            <a:avLst/>
          </a:prstGeom>
          <a:solidFill>
            <a:srgbClr val="78909C"/>
          </a:solidFill>
          <a:ln/>
        </p:spPr>
      </p:sp>
      <p:sp>
        <p:nvSpPr>
          <p:cNvPr id="16" name="Shape 14"/>
          <p:cNvSpPr/>
          <p:nvPr/>
        </p:nvSpPr>
        <p:spPr>
          <a:xfrm>
            <a:off x="9563007" y="3806717"/>
            <a:ext cx="2020824" cy="310896"/>
          </a:xfrm>
          <a:prstGeom prst="rect">
            <a:avLst/>
          </a:prstGeom>
          <a:solidFill>
            <a:srgbClr val="78909C"/>
          </a:solidFill>
          <a:ln/>
        </p:spPr>
      </p:sp>
      <p:sp>
        <p:nvSpPr>
          <p:cNvPr id="17" name="Shape 15"/>
          <p:cNvSpPr/>
          <p:nvPr/>
        </p:nvSpPr>
        <p:spPr>
          <a:xfrm>
            <a:off x="8072323" y="3668854"/>
            <a:ext cx="2691994" cy="457200"/>
          </a:xfrm>
          <a:prstGeom prst="roundRect">
            <a:avLst>
              <a:gd name="adj" fmla="val 12000"/>
            </a:avLst>
          </a:prstGeom>
          <a:solidFill>
            <a:srgbClr val="B0BEC5"/>
          </a:solidFill>
          <a:ln/>
          <a:effectLst>
            <a:outerShdw blurRad="88900" dist="38100" dir="5400000" algn="bl" rotWithShape="0">
              <a:srgbClr val="000000">
                <a:alpha val="12000"/>
              </a:srgbClr>
            </a:outerShdw>
          </a:effectLst>
        </p:spPr>
      </p:sp>
      <p:sp>
        <p:nvSpPr>
          <p:cNvPr id="18" name="Shape 16"/>
          <p:cNvSpPr/>
          <p:nvPr/>
        </p:nvSpPr>
        <p:spPr>
          <a:xfrm>
            <a:off x="8313303" y="3794760"/>
            <a:ext cx="164592" cy="164592"/>
          </a:xfrm>
          <a:prstGeom prst="ellipse">
            <a:avLst/>
          </a:prstGeom>
          <a:solidFill>
            <a:srgbClr val="F9A825"/>
          </a:solidFill>
          <a:ln/>
        </p:spPr>
      </p:sp>
      <p:sp>
        <p:nvSpPr>
          <p:cNvPr id="19" name="Shape 17"/>
          <p:cNvSpPr/>
          <p:nvPr/>
        </p:nvSpPr>
        <p:spPr>
          <a:xfrm>
            <a:off x="8983066" y="3802849"/>
            <a:ext cx="164592" cy="164592"/>
          </a:xfrm>
          <a:prstGeom prst="ellipse">
            <a:avLst/>
          </a:prstGeom>
          <a:solidFill>
            <a:srgbClr val="F9A825"/>
          </a:solidFill>
          <a:ln/>
        </p:spPr>
      </p:sp>
      <p:sp>
        <p:nvSpPr>
          <p:cNvPr id="20" name="Shape 18"/>
          <p:cNvSpPr/>
          <p:nvPr/>
        </p:nvSpPr>
        <p:spPr>
          <a:xfrm>
            <a:off x="9686544" y="3794760"/>
            <a:ext cx="164592" cy="164592"/>
          </a:xfrm>
          <a:prstGeom prst="ellipse">
            <a:avLst/>
          </a:prstGeom>
          <a:solidFill>
            <a:srgbClr val="F9A825"/>
          </a:solidFill>
          <a:ln/>
        </p:spPr>
      </p:sp>
      <p:sp>
        <p:nvSpPr>
          <p:cNvPr id="21" name="Shape 19"/>
          <p:cNvSpPr/>
          <p:nvPr/>
        </p:nvSpPr>
        <p:spPr>
          <a:xfrm>
            <a:off x="10387584" y="3797573"/>
            <a:ext cx="164592" cy="164592"/>
          </a:xfrm>
          <a:prstGeom prst="ellipse">
            <a:avLst/>
          </a:prstGeom>
          <a:solidFill>
            <a:srgbClr val="F9A825"/>
          </a:solidFill>
          <a:ln/>
        </p:spPr>
      </p:sp>
      <p:sp>
        <p:nvSpPr>
          <p:cNvPr id="22" name="Text 20"/>
          <p:cNvSpPr/>
          <p:nvPr/>
        </p:nvSpPr>
        <p:spPr>
          <a:xfrm>
            <a:off x="7312621" y="4349379"/>
            <a:ext cx="4206240" cy="274320"/>
          </a:xfrm>
          <a:prstGeom prst="rect">
            <a:avLst/>
          </a:prstGeom>
          <a:noFill/>
          <a:ln/>
        </p:spPr>
        <p:txBody>
          <a:bodyPr wrap="square" rtlCol="0" anchor="ctr"/>
          <a:lstStyle/>
          <a:p>
            <a:pPr marL="0" indent="0" algn="ctr">
              <a:buNone/>
            </a:pPr>
            <a:r>
              <a:rPr lang="en-US" sz="1100" i="1" dirty="0">
                <a:solidFill>
                  <a:srgbClr val="486581"/>
                </a:solidFill>
                <a:latin typeface="Calibri" pitchFamily="34" charset="0"/>
                <a:ea typeface="Calibri" pitchFamily="34" charset="-122"/>
                <a:cs typeface="Calibri" pitchFamily="34" charset="-120"/>
              </a:rPr>
              <a:t>fishplate joint · 8 bolts</a:t>
            </a:r>
            <a:endParaRPr lang="en-US" sz="1100" dirty="0"/>
          </a:p>
        </p:txBody>
      </p:sp>
      <p:pic>
        <p:nvPicPr>
          <p:cNvPr id="23" name="ppt vid">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157759" y="300733"/>
            <a:ext cx="4122772" cy="258404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993"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2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9184"/>
            <a:ext cx="11064240" cy="777240"/>
          </a:xfrm>
          <a:prstGeom prst="rect">
            <a:avLst/>
          </a:prstGeom>
          <a:noFill/>
          <a:ln/>
        </p:spPr>
        <p:txBody>
          <a:bodyPr wrap="square" lIns="0" tIns="0" rIns="0" bIns="0" rtlCol="0" anchor="ctr"/>
          <a:lstStyle/>
          <a:p>
            <a:pPr marL="0" indent="0" algn="l">
              <a:buNone/>
            </a:pPr>
            <a:r>
              <a:rPr lang="en-US" sz="3200" b="1" dirty="0">
                <a:solidFill>
                  <a:srgbClr val="102A43"/>
                </a:solidFill>
                <a:latin typeface="Calibri" pitchFamily="34" charset="0"/>
                <a:ea typeface="Calibri" pitchFamily="34" charset="-122"/>
                <a:cs typeface="Calibri" pitchFamily="34" charset="-120"/>
              </a:rPr>
              <a:t>The </a:t>
            </a:r>
            <a:r>
              <a:rPr lang="en-US" sz="3200" b="1" dirty="0" smtClean="0">
                <a:solidFill>
                  <a:srgbClr val="102A43"/>
                </a:solidFill>
                <a:latin typeface="Calibri" pitchFamily="34" charset="0"/>
                <a:ea typeface="Calibri" pitchFamily="34" charset="-122"/>
                <a:cs typeface="Calibri" pitchFamily="34" charset="-120"/>
              </a:rPr>
              <a:t>I</a:t>
            </a:r>
            <a:r>
              <a:rPr lang="en-US" sz="3200" b="1" dirty="0" smtClean="0">
                <a:solidFill>
                  <a:srgbClr val="102A43"/>
                </a:solidFill>
                <a:latin typeface="Calibri" pitchFamily="34" charset="0"/>
                <a:ea typeface="Calibri" pitchFamily="34" charset="-122"/>
                <a:cs typeface="Calibri" pitchFamily="34" charset="-120"/>
              </a:rPr>
              <a:t>nspection </a:t>
            </a:r>
            <a:r>
              <a:rPr lang="en-US" sz="3200" b="1" dirty="0">
                <a:solidFill>
                  <a:srgbClr val="102A43"/>
                </a:solidFill>
                <a:latin typeface="Calibri" pitchFamily="34" charset="0"/>
                <a:ea typeface="Calibri" pitchFamily="34" charset="-122"/>
                <a:cs typeface="Calibri" pitchFamily="34" charset="-120"/>
              </a:rPr>
              <a:t>P</a:t>
            </a:r>
            <a:r>
              <a:rPr lang="en-US" sz="3200" b="1" dirty="0" smtClean="0">
                <a:solidFill>
                  <a:srgbClr val="102A43"/>
                </a:solidFill>
                <a:latin typeface="Calibri" pitchFamily="34" charset="0"/>
                <a:ea typeface="Calibri" pitchFamily="34" charset="-122"/>
                <a:cs typeface="Calibri" pitchFamily="34" charset="-120"/>
              </a:rPr>
              <a:t>rocess </a:t>
            </a:r>
            <a:r>
              <a:rPr lang="en-US" sz="3200" b="1" dirty="0" smtClean="0">
                <a:solidFill>
                  <a:srgbClr val="102A43"/>
                </a:solidFill>
                <a:latin typeface="Calibri" pitchFamily="34" charset="0"/>
                <a:ea typeface="Calibri" pitchFamily="34" charset="-122"/>
                <a:cs typeface="Calibri" pitchFamily="34" charset="-120"/>
              </a:rPr>
              <a:t>is </a:t>
            </a:r>
            <a:r>
              <a:rPr lang="en-US" sz="3200" b="1" dirty="0" smtClean="0">
                <a:solidFill>
                  <a:srgbClr val="102A43"/>
                </a:solidFill>
                <a:latin typeface="Calibri" pitchFamily="34" charset="0"/>
                <a:ea typeface="Calibri" pitchFamily="34" charset="-122"/>
                <a:cs typeface="Calibri" pitchFamily="34" charset="-120"/>
              </a:rPr>
              <a:t>Lengthy </a:t>
            </a:r>
            <a:r>
              <a:rPr lang="en-US" sz="3200" b="1" dirty="0" smtClean="0">
                <a:solidFill>
                  <a:srgbClr val="102A43"/>
                </a:solidFill>
                <a:latin typeface="Calibri" pitchFamily="34" charset="0"/>
                <a:ea typeface="Calibri" pitchFamily="34" charset="-122"/>
                <a:cs typeface="Calibri" pitchFamily="34" charset="-120"/>
              </a:rPr>
              <a:t>and </a:t>
            </a:r>
            <a:r>
              <a:rPr lang="en-US" sz="3200" b="1" dirty="0" smtClean="0">
                <a:solidFill>
                  <a:srgbClr val="102A43"/>
                </a:solidFill>
                <a:latin typeface="Calibri" pitchFamily="34" charset="0"/>
                <a:ea typeface="Calibri" pitchFamily="34" charset="-122"/>
                <a:cs typeface="Calibri" pitchFamily="34" charset="-120"/>
              </a:rPr>
              <a:t>Ineffective</a:t>
            </a:r>
            <a:endParaRPr lang="en-US" sz="3200" dirty="0"/>
          </a:p>
        </p:txBody>
      </p:sp>
      <p:sp>
        <p:nvSpPr>
          <p:cNvPr id="3" name="Shape 1"/>
          <p:cNvSpPr/>
          <p:nvPr/>
        </p:nvSpPr>
        <p:spPr>
          <a:xfrm>
            <a:off x="548640" y="1645920"/>
            <a:ext cx="3456432" cy="2286000"/>
          </a:xfrm>
          <a:prstGeom prst="roundRect">
            <a:avLst>
              <a:gd name="adj" fmla="val 4000"/>
            </a:avLst>
          </a:prstGeom>
          <a:solidFill>
            <a:srgbClr val="EEF3F8"/>
          </a:solidFill>
          <a:ln/>
          <a:effectLst>
            <a:outerShdw blurRad="88900" dist="38100" dir="5400000" algn="bl" rotWithShape="0">
              <a:srgbClr val="000000">
                <a:alpha val="12000"/>
              </a:srgbClr>
            </a:outerShdw>
          </a:effectLst>
        </p:spPr>
      </p:sp>
      <p:sp>
        <p:nvSpPr>
          <p:cNvPr id="4" name="Text 2"/>
          <p:cNvSpPr/>
          <p:nvPr/>
        </p:nvSpPr>
        <p:spPr>
          <a:xfrm>
            <a:off x="548640" y="2057400"/>
            <a:ext cx="3456432" cy="914400"/>
          </a:xfrm>
          <a:prstGeom prst="rect">
            <a:avLst/>
          </a:prstGeom>
          <a:noFill/>
          <a:ln/>
        </p:spPr>
        <p:txBody>
          <a:bodyPr wrap="square" lIns="0" tIns="0" rIns="0" bIns="0" rtlCol="0" anchor="ctr"/>
          <a:lstStyle/>
          <a:p>
            <a:pPr marL="0" indent="0" algn="ctr">
              <a:buNone/>
            </a:pPr>
            <a:r>
              <a:rPr lang="en-US" sz="4000" b="1" dirty="0">
                <a:solidFill>
                  <a:srgbClr val="F9A825"/>
                </a:solidFill>
                <a:latin typeface="Calibri" pitchFamily="34" charset="0"/>
                <a:ea typeface="Calibri" pitchFamily="34" charset="-122"/>
                <a:cs typeface="Calibri" pitchFamily="34" charset="-120"/>
              </a:rPr>
              <a:t>~69,000 km</a:t>
            </a:r>
            <a:endParaRPr lang="en-US" sz="4000" dirty="0"/>
          </a:p>
        </p:txBody>
      </p:sp>
      <p:sp>
        <p:nvSpPr>
          <p:cNvPr id="5" name="Text 3"/>
          <p:cNvSpPr/>
          <p:nvPr/>
        </p:nvSpPr>
        <p:spPr>
          <a:xfrm>
            <a:off x="822960" y="3063240"/>
            <a:ext cx="2907792" cy="731520"/>
          </a:xfrm>
          <a:prstGeom prst="rect">
            <a:avLst/>
          </a:prstGeom>
          <a:noFill/>
          <a:ln/>
        </p:spPr>
        <p:txBody>
          <a:bodyPr wrap="square" lIns="0" tIns="0" rIns="0" bIns="0" rtlCol="0" anchor="ctr"/>
          <a:lstStyle/>
          <a:p>
            <a:pPr marL="0" indent="0" algn="ctr">
              <a:buNone/>
            </a:pPr>
            <a:r>
              <a:rPr lang="en-US" sz="1500" dirty="0">
                <a:solidFill>
                  <a:srgbClr val="102A43"/>
                </a:solidFill>
                <a:latin typeface="Calibri" pitchFamily="34" charset="0"/>
                <a:ea typeface="Calibri" pitchFamily="34" charset="-122"/>
                <a:cs typeface="Calibri" pitchFamily="34" charset="-120"/>
              </a:rPr>
              <a:t>India's rail network (2024)</a:t>
            </a:r>
            <a:endParaRPr lang="en-US" sz="1500" dirty="0"/>
          </a:p>
        </p:txBody>
      </p:sp>
      <p:sp>
        <p:nvSpPr>
          <p:cNvPr id="6" name="Shape 4"/>
          <p:cNvSpPr/>
          <p:nvPr/>
        </p:nvSpPr>
        <p:spPr>
          <a:xfrm>
            <a:off x="4398264" y="1645920"/>
            <a:ext cx="3456432" cy="2286000"/>
          </a:xfrm>
          <a:prstGeom prst="roundRect">
            <a:avLst>
              <a:gd name="adj" fmla="val 4000"/>
            </a:avLst>
          </a:prstGeom>
          <a:solidFill>
            <a:srgbClr val="EEF3F8"/>
          </a:solidFill>
          <a:ln/>
          <a:effectLst>
            <a:outerShdw blurRad="88900" dist="38100" dir="5400000" algn="bl" rotWithShape="0">
              <a:srgbClr val="000000">
                <a:alpha val="12000"/>
              </a:srgbClr>
            </a:outerShdw>
          </a:effectLst>
        </p:spPr>
      </p:sp>
      <p:sp>
        <p:nvSpPr>
          <p:cNvPr id="7" name="Text 5"/>
          <p:cNvSpPr/>
          <p:nvPr/>
        </p:nvSpPr>
        <p:spPr>
          <a:xfrm>
            <a:off x="4398264" y="2057400"/>
            <a:ext cx="3456432" cy="914400"/>
          </a:xfrm>
          <a:prstGeom prst="rect">
            <a:avLst/>
          </a:prstGeom>
          <a:noFill/>
          <a:ln/>
        </p:spPr>
        <p:txBody>
          <a:bodyPr wrap="square" lIns="0" tIns="0" rIns="0" bIns="0" rtlCol="0" anchor="ctr"/>
          <a:lstStyle/>
          <a:p>
            <a:pPr marL="0" indent="0" algn="ctr">
              <a:buNone/>
            </a:pPr>
            <a:r>
              <a:rPr lang="en-US" sz="4000" b="1" dirty="0">
                <a:solidFill>
                  <a:srgbClr val="F9A825"/>
                </a:solidFill>
                <a:latin typeface="Calibri" pitchFamily="34" charset="0"/>
                <a:ea typeface="Calibri" pitchFamily="34" charset="-122"/>
                <a:cs typeface="Calibri" pitchFamily="34" charset="-120"/>
              </a:rPr>
              <a:t>4</a:t>
            </a:r>
            <a:r>
              <a:rPr lang="en-US" sz="4000" b="1" dirty="0" smtClean="0">
                <a:solidFill>
                  <a:srgbClr val="F9A825"/>
                </a:solidFill>
                <a:latin typeface="Calibri" pitchFamily="34" charset="0"/>
                <a:ea typeface="Calibri" pitchFamily="34" charset="-122"/>
                <a:cs typeface="Calibri" pitchFamily="34" charset="-120"/>
              </a:rPr>
              <a:t>–6 </a:t>
            </a:r>
            <a:r>
              <a:rPr lang="en-US" sz="4000" b="1" dirty="0">
                <a:solidFill>
                  <a:srgbClr val="F9A825"/>
                </a:solidFill>
                <a:latin typeface="Calibri" pitchFamily="34" charset="0"/>
                <a:ea typeface="Calibri" pitchFamily="34" charset="-122"/>
                <a:cs typeface="Calibri" pitchFamily="34" charset="-120"/>
              </a:rPr>
              <a:t>km</a:t>
            </a:r>
            <a:endParaRPr lang="en-US" sz="4000" dirty="0"/>
          </a:p>
        </p:txBody>
      </p:sp>
      <p:sp>
        <p:nvSpPr>
          <p:cNvPr id="8" name="Text 6"/>
          <p:cNvSpPr/>
          <p:nvPr/>
        </p:nvSpPr>
        <p:spPr>
          <a:xfrm>
            <a:off x="4672584" y="3063240"/>
            <a:ext cx="2907792" cy="731520"/>
          </a:xfrm>
          <a:prstGeom prst="rect">
            <a:avLst/>
          </a:prstGeom>
          <a:noFill/>
          <a:ln/>
        </p:spPr>
        <p:txBody>
          <a:bodyPr wrap="square" lIns="0" tIns="0" rIns="0" bIns="0" rtlCol="0" anchor="ctr"/>
          <a:lstStyle/>
          <a:p>
            <a:pPr marL="0" indent="0" algn="ctr">
              <a:buNone/>
            </a:pPr>
            <a:r>
              <a:rPr lang="en-US" sz="1500" dirty="0">
                <a:solidFill>
                  <a:srgbClr val="102A43"/>
                </a:solidFill>
                <a:latin typeface="Calibri" pitchFamily="34" charset="0"/>
                <a:ea typeface="Calibri" pitchFamily="34" charset="-122"/>
                <a:cs typeface="Calibri" pitchFamily="34" charset="-120"/>
              </a:rPr>
              <a:t>walked per inspector, daily, on foot</a:t>
            </a:r>
            <a:endParaRPr lang="en-US" sz="1500" dirty="0"/>
          </a:p>
        </p:txBody>
      </p:sp>
      <p:sp>
        <p:nvSpPr>
          <p:cNvPr id="9" name="Shape 7"/>
          <p:cNvSpPr/>
          <p:nvPr/>
        </p:nvSpPr>
        <p:spPr>
          <a:xfrm>
            <a:off x="8247888" y="1645920"/>
            <a:ext cx="3456432" cy="2286000"/>
          </a:xfrm>
          <a:prstGeom prst="roundRect">
            <a:avLst>
              <a:gd name="adj" fmla="val 4000"/>
            </a:avLst>
          </a:prstGeom>
          <a:solidFill>
            <a:srgbClr val="EEF3F8"/>
          </a:solidFill>
          <a:ln/>
          <a:effectLst>
            <a:outerShdw blurRad="88900" dist="38100" dir="5400000" algn="bl" rotWithShape="0">
              <a:srgbClr val="000000">
                <a:alpha val="12000"/>
              </a:srgbClr>
            </a:outerShdw>
          </a:effectLst>
        </p:spPr>
      </p:sp>
      <p:sp>
        <p:nvSpPr>
          <p:cNvPr id="10" name="Text 8"/>
          <p:cNvSpPr/>
          <p:nvPr/>
        </p:nvSpPr>
        <p:spPr>
          <a:xfrm>
            <a:off x="8247888" y="2057400"/>
            <a:ext cx="3456432" cy="914400"/>
          </a:xfrm>
          <a:prstGeom prst="rect">
            <a:avLst/>
          </a:prstGeom>
          <a:noFill/>
          <a:ln/>
        </p:spPr>
        <p:txBody>
          <a:bodyPr wrap="square" lIns="0" tIns="0" rIns="0" bIns="0" rtlCol="0" anchor="ctr"/>
          <a:lstStyle/>
          <a:p>
            <a:pPr marL="0" indent="0" algn="ctr">
              <a:buNone/>
            </a:pPr>
            <a:r>
              <a:rPr lang="en-US" sz="4000" b="1" dirty="0">
                <a:solidFill>
                  <a:srgbClr val="F9A825"/>
                </a:solidFill>
                <a:latin typeface="Calibri" pitchFamily="34" charset="0"/>
                <a:ea typeface="Calibri" pitchFamily="34" charset="-122"/>
                <a:cs typeface="Calibri" pitchFamily="34" charset="-120"/>
              </a:rPr>
              <a:t>By hand</a:t>
            </a:r>
            <a:endParaRPr lang="en-US" sz="4000" dirty="0"/>
          </a:p>
        </p:txBody>
      </p:sp>
      <p:sp>
        <p:nvSpPr>
          <p:cNvPr id="11" name="Text 9"/>
          <p:cNvSpPr/>
          <p:nvPr/>
        </p:nvSpPr>
        <p:spPr>
          <a:xfrm>
            <a:off x="8522208" y="3063240"/>
            <a:ext cx="2907792" cy="731520"/>
          </a:xfrm>
          <a:prstGeom prst="rect">
            <a:avLst/>
          </a:prstGeom>
          <a:noFill/>
          <a:ln/>
        </p:spPr>
        <p:txBody>
          <a:bodyPr wrap="square" lIns="0" tIns="0" rIns="0" bIns="0" rtlCol="0" anchor="ctr"/>
          <a:lstStyle/>
          <a:p>
            <a:pPr marL="0" indent="0" algn="ctr">
              <a:buNone/>
            </a:pPr>
            <a:r>
              <a:rPr lang="en-US" sz="1500" dirty="0">
                <a:solidFill>
                  <a:srgbClr val="102A43"/>
                </a:solidFill>
                <a:latin typeface="Calibri" pitchFamily="34" charset="0"/>
                <a:ea typeface="Calibri" pitchFamily="34" charset="-122"/>
                <a:cs typeface="Calibri" pitchFamily="34" charset="-120"/>
              </a:rPr>
              <a:t>every bolt tapped, one by one</a:t>
            </a:r>
            <a:endParaRPr lang="en-US" sz="1500" dirty="0"/>
          </a:p>
        </p:txBody>
      </p:sp>
      <p:sp>
        <p:nvSpPr>
          <p:cNvPr id="12" name="Shape 10"/>
          <p:cNvSpPr/>
          <p:nvPr/>
        </p:nvSpPr>
        <p:spPr>
          <a:xfrm>
            <a:off x="548640" y="4572000"/>
            <a:ext cx="11064240" cy="1188720"/>
          </a:xfrm>
          <a:prstGeom prst="roundRect">
            <a:avLst>
              <a:gd name="adj" fmla="val 7692"/>
            </a:avLst>
          </a:prstGeom>
          <a:solidFill>
            <a:srgbClr val="102A43"/>
          </a:solidFill>
          <a:ln/>
        </p:spPr>
      </p:sp>
      <p:sp>
        <p:nvSpPr>
          <p:cNvPr id="13" name="Text 11"/>
          <p:cNvSpPr/>
          <p:nvPr/>
        </p:nvSpPr>
        <p:spPr>
          <a:xfrm>
            <a:off x="914400" y="4572000"/>
            <a:ext cx="10332720" cy="1188720"/>
          </a:xfrm>
          <a:prstGeom prst="rect">
            <a:avLst/>
          </a:prstGeom>
          <a:noFill/>
          <a:ln/>
        </p:spPr>
        <p:txBody>
          <a:bodyPr wrap="square" lIns="0" tIns="0" rIns="0" bIns="0" rtlCol="0" anchor="ctr"/>
          <a:lstStyle/>
          <a:p>
            <a:pPr marL="0" indent="0" algn="ctr">
              <a:buNone/>
            </a:pPr>
            <a:r>
              <a:rPr lang="en-US" sz="2100" i="1" dirty="0">
                <a:solidFill>
                  <a:srgbClr val="FFFFFF"/>
                </a:solidFill>
                <a:latin typeface="Calibri" pitchFamily="34" charset="0"/>
                <a:ea typeface="Calibri" pitchFamily="34" charset="-122"/>
                <a:cs typeface="Calibri" pitchFamily="34" charset="-120"/>
              </a:rPr>
              <a:t>An </a:t>
            </a:r>
            <a:r>
              <a:rPr lang="en-US" sz="2100" i="1" dirty="0" smtClean="0">
                <a:solidFill>
                  <a:srgbClr val="FFFFFF"/>
                </a:solidFill>
                <a:latin typeface="Calibri" pitchFamily="34" charset="0"/>
                <a:ea typeface="Calibri" pitchFamily="34" charset="-122"/>
                <a:cs typeface="Calibri" pitchFamily="34" charset="-120"/>
              </a:rPr>
              <a:t>inspector checks each bolt individually</a:t>
            </a:r>
            <a:endParaRPr lang="en-US" sz="21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9184"/>
            <a:ext cx="11064240" cy="777240"/>
          </a:xfrm>
          <a:prstGeom prst="rect">
            <a:avLst/>
          </a:prstGeom>
          <a:noFill/>
          <a:ln/>
        </p:spPr>
        <p:txBody>
          <a:bodyPr wrap="square" lIns="0" tIns="0" rIns="0" bIns="0" rtlCol="0" anchor="ctr"/>
          <a:lstStyle/>
          <a:p>
            <a:pPr marL="0" indent="0" algn="l">
              <a:buNone/>
            </a:pPr>
            <a:r>
              <a:rPr lang="en-US" sz="3200" b="1" dirty="0">
                <a:solidFill>
                  <a:srgbClr val="102A43"/>
                </a:solidFill>
                <a:latin typeface="Calibri" pitchFamily="34" charset="0"/>
                <a:ea typeface="Calibri" pitchFamily="34" charset="-122"/>
                <a:cs typeface="Calibri" pitchFamily="34" charset="-120"/>
              </a:rPr>
              <a:t>Loose isn't the only </a:t>
            </a:r>
            <a:r>
              <a:rPr lang="en-US" sz="3200" b="1" dirty="0">
                <a:solidFill>
                  <a:srgbClr val="102A43"/>
                </a:solidFill>
                <a:latin typeface="Calibri" pitchFamily="34" charset="0"/>
                <a:ea typeface="Calibri" pitchFamily="34" charset="-122"/>
                <a:cs typeface="Calibri" pitchFamily="34" charset="-120"/>
              </a:rPr>
              <a:t>F</a:t>
            </a:r>
            <a:r>
              <a:rPr lang="en-US" sz="3200" b="1" dirty="0" smtClean="0">
                <a:solidFill>
                  <a:srgbClr val="102A43"/>
                </a:solidFill>
                <a:latin typeface="Calibri" pitchFamily="34" charset="0"/>
                <a:ea typeface="Calibri" pitchFamily="34" charset="-122"/>
                <a:cs typeface="Calibri" pitchFamily="34" charset="-120"/>
              </a:rPr>
              <a:t>ailure</a:t>
            </a:r>
            <a:endParaRPr lang="en-US" sz="3200" dirty="0"/>
          </a:p>
        </p:txBody>
      </p:sp>
      <p:pic>
        <p:nvPicPr>
          <p:cNvPr id="3" name="Image 0" descr="/home/claude/overtightening.png"/>
          <p:cNvPicPr>
            <a:picLocks noChangeAspect="1"/>
          </p:cNvPicPr>
          <p:nvPr/>
        </p:nvPicPr>
        <p:blipFill>
          <a:blip r:embed="rId3"/>
          <a:stretch>
            <a:fillRect/>
          </a:stretch>
        </p:blipFill>
        <p:spPr>
          <a:xfrm>
            <a:off x="548640" y="1417320"/>
            <a:ext cx="11064240" cy="3748049"/>
          </a:xfrm>
          <a:prstGeom prst="rect">
            <a:avLst/>
          </a:prstGeom>
        </p:spPr>
      </p:pic>
      <p:sp>
        <p:nvSpPr>
          <p:cNvPr id="4" name="Text 1"/>
          <p:cNvSpPr/>
          <p:nvPr/>
        </p:nvSpPr>
        <p:spPr>
          <a:xfrm>
            <a:off x="548640" y="5806440"/>
            <a:ext cx="11064240" cy="457200"/>
          </a:xfrm>
          <a:prstGeom prst="rect">
            <a:avLst/>
          </a:prstGeom>
          <a:noFill/>
          <a:ln/>
        </p:spPr>
        <p:txBody>
          <a:bodyPr wrap="square" lIns="0" tIns="0" rIns="0" bIns="0" rtlCol="0" anchor="ctr"/>
          <a:lstStyle/>
          <a:p>
            <a:pPr marL="0" indent="0" algn="ctr">
              <a:buNone/>
            </a:pPr>
            <a:r>
              <a:rPr lang="en-US" sz="1600" b="1" i="1" dirty="0">
                <a:solidFill>
                  <a:srgbClr val="102A43"/>
                </a:solidFill>
                <a:latin typeface="Calibri" pitchFamily="34" charset="0"/>
                <a:ea typeface="Calibri" pitchFamily="34" charset="-122"/>
                <a:cs typeface="Calibri" pitchFamily="34" charset="-120"/>
              </a:rPr>
              <a:t>An over-tightened bolt </a:t>
            </a:r>
            <a:r>
              <a:rPr lang="en-US" sz="1600" b="1" i="1" dirty="0" smtClean="0">
                <a:solidFill>
                  <a:srgbClr val="102A43"/>
                </a:solidFill>
                <a:latin typeface="Calibri" pitchFamily="34" charset="0"/>
                <a:ea typeface="Calibri" pitchFamily="34" charset="-122"/>
                <a:cs typeface="Calibri" pitchFamily="34" charset="-120"/>
              </a:rPr>
              <a:t>shows no problem </a:t>
            </a:r>
            <a:r>
              <a:rPr lang="en-US" sz="1600" b="1" i="1" dirty="0">
                <a:solidFill>
                  <a:srgbClr val="102A43"/>
                </a:solidFill>
                <a:latin typeface="Calibri" pitchFamily="34" charset="0"/>
                <a:ea typeface="Calibri" pitchFamily="34" charset="-122"/>
                <a:cs typeface="Calibri" pitchFamily="34" charset="-120"/>
              </a:rPr>
              <a:t>— </a:t>
            </a:r>
            <a:r>
              <a:rPr lang="en-US" sz="1600" b="1" i="1" dirty="0" smtClean="0">
                <a:solidFill>
                  <a:srgbClr val="102A43"/>
                </a:solidFill>
                <a:latin typeface="Calibri" pitchFamily="34" charset="0"/>
                <a:ea typeface="Calibri" pitchFamily="34" charset="-122"/>
                <a:cs typeface="Calibri" pitchFamily="34" charset="-120"/>
              </a:rPr>
              <a:t>the pressure builds up until </a:t>
            </a:r>
            <a:r>
              <a:rPr lang="en-US" sz="1600" b="1" i="1" dirty="0">
                <a:solidFill>
                  <a:srgbClr val="102A43"/>
                </a:solidFill>
                <a:latin typeface="Calibri" pitchFamily="34" charset="0"/>
                <a:ea typeface="Calibri" pitchFamily="34" charset="-122"/>
                <a:cs typeface="Calibri" pitchFamily="34" charset="-120"/>
              </a:rPr>
              <a:t>it snaps with no warning. </a:t>
            </a:r>
            <a:endParaRPr lang="en-US" sz="1600" dirty="0"/>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9184"/>
            <a:ext cx="11064240" cy="777240"/>
          </a:xfrm>
          <a:prstGeom prst="rect">
            <a:avLst/>
          </a:prstGeom>
          <a:noFill/>
          <a:ln/>
        </p:spPr>
        <p:txBody>
          <a:bodyPr wrap="square" lIns="0" tIns="0" rIns="0" bIns="0" rtlCol="0" anchor="ctr"/>
          <a:lstStyle/>
          <a:p>
            <a:pPr marL="0" indent="0" algn="l">
              <a:buNone/>
            </a:pPr>
            <a:r>
              <a:rPr lang="en-US" sz="3200" b="1" dirty="0">
                <a:solidFill>
                  <a:srgbClr val="102A43"/>
                </a:solidFill>
                <a:latin typeface="Calibri" pitchFamily="34" charset="0"/>
                <a:ea typeface="Calibri" pitchFamily="34" charset="-122"/>
                <a:cs typeface="Calibri" pitchFamily="34" charset="-120"/>
              </a:rPr>
              <a:t>This isn't </a:t>
            </a:r>
            <a:r>
              <a:rPr lang="en-US" sz="3200" b="1" dirty="0" smtClean="0">
                <a:solidFill>
                  <a:srgbClr val="102A43"/>
                </a:solidFill>
                <a:latin typeface="Calibri" pitchFamily="34" charset="0"/>
                <a:ea typeface="Calibri" pitchFamily="34" charset="-122"/>
                <a:cs typeface="Calibri" pitchFamily="34" charset="-120"/>
              </a:rPr>
              <a:t>Theoretical</a:t>
            </a:r>
            <a:endParaRPr lang="en-US" sz="3200" dirty="0"/>
          </a:p>
        </p:txBody>
      </p:sp>
      <p:sp>
        <p:nvSpPr>
          <p:cNvPr id="3" name="Shape 1"/>
          <p:cNvSpPr/>
          <p:nvPr/>
        </p:nvSpPr>
        <p:spPr>
          <a:xfrm>
            <a:off x="548640" y="1691640"/>
            <a:ext cx="3456432" cy="4023360"/>
          </a:xfrm>
          <a:prstGeom prst="roundRect">
            <a:avLst>
              <a:gd name="adj" fmla="val 2646"/>
            </a:avLst>
          </a:prstGeom>
          <a:solidFill>
            <a:srgbClr val="EEF3F8"/>
          </a:solidFill>
          <a:ln/>
          <a:effectLst>
            <a:outerShdw blurRad="88900" dist="38100" dir="5400000" algn="bl" rotWithShape="0">
              <a:srgbClr val="000000">
                <a:alpha val="12000"/>
              </a:srgbClr>
            </a:outerShdw>
          </a:effectLst>
        </p:spPr>
      </p:sp>
      <p:sp>
        <p:nvSpPr>
          <p:cNvPr id="4" name="Shape 2"/>
          <p:cNvSpPr/>
          <p:nvPr/>
        </p:nvSpPr>
        <p:spPr>
          <a:xfrm>
            <a:off x="914400" y="2103120"/>
            <a:ext cx="457200" cy="457200"/>
          </a:xfrm>
          <a:prstGeom prst="ellipse">
            <a:avLst/>
          </a:prstGeom>
          <a:solidFill>
            <a:srgbClr val="C62828"/>
          </a:solidFill>
          <a:ln/>
        </p:spPr>
      </p:sp>
      <p:sp>
        <p:nvSpPr>
          <p:cNvPr id="5" name="Text 3"/>
          <p:cNvSpPr/>
          <p:nvPr/>
        </p:nvSpPr>
        <p:spPr>
          <a:xfrm>
            <a:off x="914400" y="2075688"/>
            <a:ext cx="457200" cy="45720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t>
            </a:r>
            <a:endParaRPr lang="en-US" sz="2400" dirty="0"/>
          </a:p>
        </p:txBody>
      </p:sp>
      <p:sp>
        <p:nvSpPr>
          <p:cNvPr id="6" name="Text 4"/>
          <p:cNvSpPr/>
          <p:nvPr/>
        </p:nvSpPr>
        <p:spPr>
          <a:xfrm>
            <a:off x="914400" y="2697480"/>
            <a:ext cx="2724912" cy="457200"/>
          </a:xfrm>
          <a:prstGeom prst="rect">
            <a:avLst/>
          </a:prstGeom>
          <a:noFill/>
          <a:ln/>
        </p:spPr>
        <p:txBody>
          <a:bodyPr wrap="square" lIns="0" tIns="0" rIns="0" bIns="0" rtlCol="0" anchor="ctr"/>
          <a:lstStyle/>
          <a:p>
            <a:pPr marL="0" indent="0">
              <a:buNone/>
            </a:pPr>
            <a:r>
              <a:rPr lang="en-US" sz="2100" b="1" dirty="0">
                <a:solidFill>
                  <a:srgbClr val="102A43"/>
                </a:solidFill>
                <a:latin typeface="Calibri" pitchFamily="34" charset="0"/>
                <a:ea typeface="Calibri" pitchFamily="34" charset="-122"/>
                <a:cs typeface="Calibri" pitchFamily="34" charset="-120"/>
              </a:rPr>
              <a:t>Hazara Express</a:t>
            </a:r>
            <a:endParaRPr lang="en-US" sz="2100" dirty="0"/>
          </a:p>
        </p:txBody>
      </p:sp>
      <p:sp>
        <p:nvSpPr>
          <p:cNvPr id="7" name="Text 5"/>
          <p:cNvSpPr/>
          <p:nvPr/>
        </p:nvSpPr>
        <p:spPr>
          <a:xfrm>
            <a:off x="914400" y="3154680"/>
            <a:ext cx="2724912" cy="365760"/>
          </a:xfrm>
          <a:prstGeom prst="rect">
            <a:avLst/>
          </a:prstGeom>
          <a:noFill/>
          <a:ln/>
        </p:spPr>
        <p:txBody>
          <a:bodyPr wrap="square" lIns="0" tIns="0" rIns="0" bIns="0" rtlCol="0" anchor="ctr"/>
          <a:lstStyle/>
          <a:p>
            <a:pPr marL="0" indent="0">
              <a:buNone/>
            </a:pPr>
            <a:r>
              <a:rPr lang="en-US" sz="1300" b="1" dirty="0">
                <a:solidFill>
                  <a:srgbClr val="C62828"/>
                </a:solidFill>
                <a:latin typeface="Calibri" pitchFamily="34" charset="0"/>
                <a:ea typeface="Calibri" pitchFamily="34" charset="-122"/>
                <a:cs typeface="Calibri" pitchFamily="34" charset="-120"/>
              </a:rPr>
              <a:t>Pakistan · 2023</a:t>
            </a:r>
            <a:endParaRPr lang="en-US" sz="1300" dirty="0"/>
          </a:p>
        </p:txBody>
      </p:sp>
      <p:sp>
        <p:nvSpPr>
          <p:cNvPr id="8" name="Text 6"/>
          <p:cNvSpPr/>
          <p:nvPr/>
        </p:nvSpPr>
        <p:spPr>
          <a:xfrm>
            <a:off x="914400" y="3657600"/>
            <a:ext cx="2724912" cy="1463040"/>
          </a:xfrm>
          <a:prstGeom prst="rect">
            <a:avLst/>
          </a:prstGeom>
          <a:noFill/>
          <a:ln/>
        </p:spPr>
        <p:txBody>
          <a:bodyPr wrap="square" lIns="0" tIns="0" rIns="0" bIns="0" rtlCol="0" anchor="ctr"/>
          <a:lstStyle/>
          <a:p>
            <a:pPr marL="0" indent="0">
              <a:buNone/>
            </a:pPr>
            <a:r>
              <a:rPr lang="en-US" sz="1500" dirty="0">
                <a:solidFill>
                  <a:srgbClr val="102A43"/>
                </a:solidFill>
                <a:latin typeface="Calibri" pitchFamily="34" charset="0"/>
                <a:ea typeface="Calibri" pitchFamily="34" charset="-122"/>
                <a:cs typeface="Calibri" pitchFamily="34" charset="-120"/>
              </a:rPr>
              <a:t>Derailment, 30+ deaths. Official inquiry blamed missing fishplates and a broken rail.</a:t>
            </a:r>
            <a:endParaRPr lang="en-US" sz="1500" dirty="0"/>
          </a:p>
        </p:txBody>
      </p:sp>
      <p:sp>
        <p:nvSpPr>
          <p:cNvPr id="9" name="Text 7"/>
          <p:cNvSpPr/>
          <p:nvPr/>
        </p:nvSpPr>
        <p:spPr>
          <a:xfrm>
            <a:off x="914400" y="5212080"/>
            <a:ext cx="2724912" cy="365760"/>
          </a:xfrm>
          <a:prstGeom prst="rect">
            <a:avLst/>
          </a:prstGeom>
          <a:noFill/>
          <a:ln/>
        </p:spPr>
        <p:txBody>
          <a:bodyPr wrap="square" lIns="0" tIns="0" rIns="0" bIns="0" rtlCol="0" anchor="ctr"/>
          <a:lstStyle/>
          <a:p>
            <a:pPr marL="0" indent="0">
              <a:buNone/>
            </a:pPr>
            <a:r>
              <a:rPr lang="en-US" sz="1100" i="1" dirty="0">
                <a:solidFill>
                  <a:srgbClr val="486581"/>
                </a:solidFill>
                <a:latin typeface="Calibri" pitchFamily="34" charset="0"/>
                <a:ea typeface="Calibri" pitchFamily="34" charset="-122"/>
                <a:cs typeface="Calibri" pitchFamily="34" charset="-120"/>
              </a:rPr>
              <a:t>Dawn, 2023</a:t>
            </a:r>
            <a:endParaRPr lang="en-US" sz="1100" dirty="0"/>
          </a:p>
        </p:txBody>
      </p:sp>
      <p:sp>
        <p:nvSpPr>
          <p:cNvPr id="10" name="Shape 8"/>
          <p:cNvSpPr/>
          <p:nvPr/>
        </p:nvSpPr>
        <p:spPr>
          <a:xfrm>
            <a:off x="4398264" y="1691640"/>
            <a:ext cx="3456432" cy="4023360"/>
          </a:xfrm>
          <a:prstGeom prst="roundRect">
            <a:avLst>
              <a:gd name="adj" fmla="val 2646"/>
            </a:avLst>
          </a:prstGeom>
          <a:solidFill>
            <a:srgbClr val="EEF3F8"/>
          </a:solidFill>
          <a:ln/>
          <a:effectLst>
            <a:outerShdw blurRad="88900" dist="38100" dir="5400000" algn="bl" rotWithShape="0">
              <a:srgbClr val="000000">
                <a:alpha val="12000"/>
              </a:srgbClr>
            </a:outerShdw>
          </a:effectLst>
        </p:spPr>
      </p:sp>
      <p:sp>
        <p:nvSpPr>
          <p:cNvPr id="11" name="Shape 9"/>
          <p:cNvSpPr/>
          <p:nvPr/>
        </p:nvSpPr>
        <p:spPr>
          <a:xfrm>
            <a:off x="4764024" y="2103120"/>
            <a:ext cx="457200" cy="457200"/>
          </a:xfrm>
          <a:prstGeom prst="ellipse">
            <a:avLst/>
          </a:prstGeom>
          <a:solidFill>
            <a:srgbClr val="C62828"/>
          </a:solidFill>
          <a:ln/>
        </p:spPr>
      </p:sp>
      <p:sp>
        <p:nvSpPr>
          <p:cNvPr id="12" name="Text 10"/>
          <p:cNvSpPr/>
          <p:nvPr/>
        </p:nvSpPr>
        <p:spPr>
          <a:xfrm>
            <a:off x="4764024" y="2075688"/>
            <a:ext cx="457200" cy="45720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t>
            </a:r>
            <a:endParaRPr lang="en-US" sz="2400" dirty="0"/>
          </a:p>
        </p:txBody>
      </p:sp>
      <p:sp>
        <p:nvSpPr>
          <p:cNvPr id="13" name="Text 11"/>
          <p:cNvSpPr/>
          <p:nvPr/>
        </p:nvSpPr>
        <p:spPr>
          <a:xfrm>
            <a:off x="4764024" y="2697480"/>
            <a:ext cx="2724912" cy="457200"/>
          </a:xfrm>
          <a:prstGeom prst="rect">
            <a:avLst/>
          </a:prstGeom>
          <a:noFill/>
          <a:ln/>
        </p:spPr>
        <p:txBody>
          <a:bodyPr wrap="square" lIns="0" tIns="0" rIns="0" bIns="0" rtlCol="0" anchor="ctr"/>
          <a:lstStyle/>
          <a:p>
            <a:pPr marL="0" indent="0">
              <a:buNone/>
            </a:pPr>
            <a:r>
              <a:rPr lang="en-US" sz="2100" b="1" dirty="0">
                <a:solidFill>
                  <a:srgbClr val="102A43"/>
                </a:solidFill>
                <a:latin typeface="Calibri" pitchFamily="34" charset="0"/>
                <a:ea typeface="Calibri" pitchFamily="34" charset="-122"/>
                <a:cs typeface="Calibri" pitchFamily="34" charset="-120"/>
              </a:rPr>
              <a:t>Kavaraipettai</a:t>
            </a:r>
            <a:endParaRPr lang="en-US" sz="2100" dirty="0"/>
          </a:p>
        </p:txBody>
      </p:sp>
      <p:sp>
        <p:nvSpPr>
          <p:cNvPr id="14" name="Text 12"/>
          <p:cNvSpPr/>
          <p:nvPr/>
        </p:nvSpPr>
        <p:spPr>
          <a:xfrm>
            <a:off x="4764024" y="3154680"/>
            <a:ext cx="2724912" cy="365760"/>
          </a:xfrm>
          <a:prstGeom prst="rect">
            <a:avLst/>
          </a:prstGeom>
          <a:noFill/>
          <a:ln/>
        </p:spPr>
        <p:txBody>
          <a:bodyPr wrap="square" lIns="0" tIns="0" rIns="0" bIns="0" rtlCol="0" anchor="ctr"/>
          <a:lstStyle/>
          <a:p>
            <a:pPr marL="0" indent="0">
              <a:buNone/>
            </a:pPr>
            <a:r>
              <a:rPr lang="en-US" sz="1300" b="1" dirty="0">
                <a:solidFill>
                  <a:srgbClr val="C62828"/>
                </a:solidFill>
                <a:latin typeface="Calibri" pitchFamily="34" charset="0"/>
                <a:ea typeface="Calibri" pitchFamily="34" charset="-122"/>
                <a:cs typeface="Calibri" pitchFamily="34" charset="-120"/>
              </a:rPr>
              <a:t>Tamil Nadu · 2024</a:t>
            </a:r>
            <a:endParaRPr lang="en-US" sz="1300" dirty="0"/>
          </a:p>
        </p:txBody>
      </p:sp>
      <p:sp>
        <p:nvSpPr>
          <p:cNvPr id="15" name="Text 13"/>
          <p:cNvSpPr/>
          <p:nvPr/>
        </p:nvSpPr>
        <p:spPr>
          <a:xfrm>
            <a:off x="4764024" y="3657600"/>
            <a:ext cx="2724912" cy="1463040"/>
          </a:xfrm>
          <a:prstGeom prst="rect">
            <a:avLst/>
          </a:prstGeom>
          <a:noFill/>
          <a:ln/>
        </p:spPr>
        <p:txBody>
          <a:bodyPr wrap="square" lIns="0" tIns="0" rIns="0" bIns="0" rtlCol="0" anchor="ctr"/>
          <a:lstStyle/>
          <a:p>
            <a:pPr marL="0" indent="0">
              <a:buNone/>
            </a:pPr>
            <a:r>
              <a:rPr lang="en-US" sz="1500" dirty="0">
                <a:solidFill>
                  <a:srgbClr val="102A43"/>
                </a:solidFill>
                <a:latin typeface="Calibri" pitchFamily="34" charset="0"/>
                <a:ea typeface="Calibri" pitchFamily="34" charset="-122"/>
                <a:cs typeface="Calibri" pitchFamily="34" charset="-120"/>
              </a:rPr>
              <a:t>Derailment. Railway probe found missing nuts and bolts at the accident site.</a:t>
            </a:r>
            <a:endParaRPr lang="en-US" sz="1500" dirty="0"/>
          </a:p>
        </p:txBody>
      </p:sp>
      <p:sp>
        <p:nvSpPr>
          <p:cNvPr id="16" name="Text 14"/>
          <p:cNvSpPr/>
          <p:nvPr/>
        </p:nvSpPr>
        <p:spPr>
          <a:xfrm>
            <a:off x="4764024" y="5212080"/>
            <a:ext cx="2724912" cy="365760"/>
          </a:xfrm>
          <a:prstGeom prst="rect">
            <a:avLst/>
          </a:prstGeom>
          <a:noFill/>
          <a:ln/>
        </p:spPr>
        <p:txBody>
          <a:bodyPr wrap="square" lIns="0" tIns="0" rIns="0" bIns="0" rtlCol="0" anchor="ctr"/>
          <a:lstStyle/>
          <a:p>
            <a:pPr marL="0" indent="0">
              <a:buNone/>
            </a:pPr>
            <a:r>
              <a:rPr lang="en-US" sz="1100" i="1" dirty="0">
                <a:solidFill>
                  <a:srgbClr val="486581"/>
                </a:solidFill>
                <a:latin typeface="Calibri" pitchFamily="34" charset="0"/>
                <a:ea typeface="Calibri" pitchFamily="34" charset="-122"/>
                <a:cs typeface="Calibri" pitchFamily="34" charset="-120"/>
              </a:rPr>
              <a:t>The Week, 2024</a:t>
            </a:r>
            <a:endParaRPr lang="en-US" sz="1100" dirty="0"/>
          </a:p>
        </p:txBody>
      </p:sp>
      <p:sp>
        <p:nvSpPr>
          <p:cNvPr id="17" name="Shape 15"/>
          <p:cNvSpPr/>
          <p:nvPr/>
        </p:nvSpPr>
        <p:spPr>
          <a:xfrm>
            <a:off x="8247888" y="1691640"/>
            <a:ext cx="3456432" cy="4023360"/>
          </a:xfrm>
          <a:prstGeom prst="roundRect">
            <a:avLst>
              <a:gd name="adj" fmla="val 2646"/>
            </a:avLst>
          </a:prstGeom>
          <a:solidFill>
            <a:srgbClr val="EEF3F8"/>
          </a:solidFill>
          <a:ln/>
          <a:effectLst>
            <a:outerShdw blurRad="88900" dist="38100" dir="5400000" algn="bl" rotWithShape="0">
              <a:srgbClr val="000000">
                <a:alpha val="12000"/>
              </a:srgbClr>
            </a:outerShdw>
          </a:effectLst>
        </p:spPr>
      </p:sp>
      <p:sp>
        <p:nvSpPr>
          <p:cNvPr id="18" name="Shape 16"/>
          <p:cNvSpPr/>
          <p:nvPr/>
        </p:nvSpPr>
        <p:spPr>
          <a:xfrm>
            <a:off x="8613648" y="2103120"/>
            <a:ext cx="457200" cy="457200"/>
          </a:xfrm>
          <a:prstGeom prst="ellipse">
            <a:avLst/>
          </a:prstGeom>
          <a:solidFill>
            <a:srgbClr val="C62828"/>
          </a:solidFill>
          <a:ln/>
        </p:spPr>
      </p:sp>
      <p:sp>
        <p:nvSpPr>
          <p:cNvPr id="19" name="Text 17"/>
          <p:cNvSpPr/>
          <p:nvPr/>
        </p:nvSpPr>
        <p:spPr>
          <a:xfrm>
            <a:off x="8613648" y="2075688"/>
            <a:ext cx="457200" cy="45720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t>
            </a:r>
            <a:endParaRPr lang="en-US" sz="2400" dirty="0"/>
          </a:p>
        </p:txBody>
      </p:sp>
      <p:sp>
        <p:nvSpPr>
          <p:cNvPr id="20" name="Text 18"/>
          <p:cNvSpPr/>
          <p:nvPr/>
        </p:nvSpPr>
        <p:spPr>
          <a:xfrm>
            <a:off x="8613648" y="2697480"/>
            <a:ext cx="2724912" cy="457200"/>
          </a:xfrm>
          <a:prstGeom prst="rect">
            <a:avLst/>
          </a:prstGeom>
          <a:noFill/>
          <a:ln/>
        </p:spPr>
        <p:txBody>
          <a:bodyPr wrap="square" lIns="0" tIns="0" rIns="0" bIns="0" rtlCol="0" anchor="ctr"/>
          <a:lstStyle/>
          <a:p>
            <a:pPr marL="0" indent="0">
              <a:buNone/>
            </a:pPr>
            <a:r>
              <a:rPr lang="en-US" sz="2100" b="1" dirty="0">
                <a:solidFill>
                  <a:srgbClr val="102A43"/>
                </a:solidFill>
                <a:latin typeface="Calibri" pitchFamily="34" charset="0"/>
                <a:ea typeface="Calibri" pitchFamily="34" charset="-122"/>
                <a:cs typeface="Calibri" pitchFamily="34" charset="-120"/>
              </a:rPr>
              <a:t>Surat</a:t>
            </a:r>
            <a:endParaRPr lang="en-US" sz="2100" dirty="0"/>
          </a:p>
        </p:txBody>
      </p:sp>
      <p:sp>
        <p:nvSpPr>
          <p:cNvPr id="21" name="Text 19"/>
          <p:cNvSpPr/>
          <p:nvPr/>
        </p:nvSpPr>
        <p:spPr>
          <a:xfrm>
            <a:off x="8613648" y="3154680"/>
            <a:ext cx="2724912" cy="365760"/>
          </a:xfrm>
          <a:prstGeom prst="rect">
            <a:avLst/>
          </a:prstGeom>
          <a:noFill/>
          <a:ln/>
        </p:spPr>
        <p:txBody>
          <a:bodyPr wrap="square" lIns="0" tIns="0" rIns="0" bIns="0" rtlCol="0" anchor="ctr"/>
          <a:lstStyle/>
          <a:p>
            <a:pPr marL="0" indent="0">
              <a:buNone/>
            </a:pPr>
            <a:r>
              <a:rPr lang="en-US" sz="1300" b="1" dirty="0">
                <a:solidFill>
                  <a:srgbClr val="C62828"/>
                </a:solidFill>
                <a:latin typeface="Calibri" pitchFamily="34" charset="0"/>
                <a:ea typeface="Calibri" pitchFamily="34" charset="-122"/>
                <a:cs typeface="Calibri" pitchFamily="34" charset="-120"/>
              </a:rPr>
              <a:t>Gujarat · 2024</a:t>
            </a:r>
            <a:endParaRPr lang="en-US" sz="1300" dirty="0"/>
          </a:p>
        </p:txBody>
      </p:sp>
      <p:sp>
        <p:nvSpPr>
          <p:cNvPr id="22" name="Text 20"/>
          <p:cNvSpPr/>
          <p:nvPr/>
        </p:nvSpPr>
        <p:spPr>
          <a:xfrm>
            <a:off x="8613648" y="3657600"/>
            <a:ext cx="2724912" cy="1463040"/>
          </a:xfrm>
          <a:prstGeom prst="rect">
            <a:avLst/>
          </a:prstGeom>
          <a:noFill/>
          <a:ln/>
        </p:spPr>
        <p:txBody>
          <a:bodyPr wrap="square" lIns="0" tIns="0" rIns="0" bIns="0" rtlCol="0" anchor="ctr"/>
          <a:lstStyle/>
          <a:p>
            <a:pPr marL="0" indent="0">
              <a:buNone/>
            </a:pPr>
            <a:r>
              <a:rPr lang="en-US" sz="1500" dirty="0">
                <a:solidFill>
                  <a:srgbClr val="102A43"/>
                </a:solidFill>
                <a:latin typeface="Calibri" pitchFamily="34" charset="0"/>
                <a:ea typeface="Calibri" pitchFamily="34" charset="-122"/>
                <a:cs typeface="Calibri" pitchFamily="34" charset="-120"/>
              </a:rPr>
              <a:t>Loosened fishplate bolts on the track — spotted by an alert inspector just in time.</a:t>
            </a:r>
            <a:endParaRPr lang="en-US" sz="1500" dirty="0"/>
          </a:p>
        </p:txBody>
      </p:sp>
      <p:sp>
        <p:nvSpPr>
          <p:cNvPr id="23" name="Text 21"/>
          <p:cNvSpPr/>
          <p:nvPr/>
        </p:nvSpPr>
        <p:spPr>
          <a:xfrm>
            <a:off x="8613648" y="5212080"/>
            <a:ext cx="2724912" cy="365760"/>
          </a:xfrm>
          <a:prstGeom prst="rect">
            <a:avLst/>
          </a:prstGeom>
          <a:noFill/>
          <a:ln/>
        </p:spPr>
        <p:txBody>
          <a:bodyPr wrap="square" lIns="0" tIns="0" rIns="0" bIns="0" rtlCol="0" anchor="ctr"/>
          <a:lstStyle/>
          <a:p>
            <a:pPr marL="0" indent="0">
              <a:buNone/>
            </a:pPr>
            <a:r>
              <a:rPr lang="en-US" sz="1100" i="1" dirty="0">
                <a:solidFill>
                  <a:srgbClr val="486581"/>
                </a:solidFill>
                <a:latin typeface="Calibri" pitchFamily="34" charset="0"/>
                <a:ea typeface="Calibri" pitchFamily="34" charset="-122"/>
                <a:cs typeface="Calibri" pitchFamily="34" charset="-120"/>
              </a:rPr>
              <a:t>Deccan Herald, 2024</a:t>
            </a:r>
            <a:endParaRPr lang="en-US" sz="110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43132" y="397412"/>
            <a:ext cx="11064240" cy="777240"/>
          </a:xfrm>
          <a:prstGeom prst="rect">
            <a:avLst/>
          </a:prstGeom>
          <a:noFill/>
          <a:ln/>
        </p:spPr>
        <p:txBody>
          <a:bodyPr wrap="square" lIns="0" tIns="0" rIns="0" bIns="0" rtlCol="0" anchor="ctr"/>
          <a:lstStyle/>
          <a:p>
            <a:pPr marL="0" indent="0" algn="l">
              <a:buNone/>
            </a:pPr>
            <a:r>
              <a:rPr lang="en-US" sz="4400" b="1" dirty="0" smtClean="0">
                <a:solidFill>
                  <a:srgbClr val="102A43"/>
                </a:solidFill>
                <a:latin typeface="Calibri" pitchFamily="34" charset="0"/>
                <a:ea typeface="Calibri" pitchFamily="34" charset="-122"/>
                <a:cs typeface="Calibri" pitchFamily="34" charset="-120"/>
              </a:rPr>
              <a:t>My Solution</a:t>
            </a:r>
            <a:endParaRPr lang="en-US" sz="4400" dirty="0"/>
          </a:p>
        </p:txBody>
      </p:sp>
      <p:sp>
        <p:nvSpPr>
          <p:cNvPr id="4" name="Text 1"/>
          <p:cNvSpPr/>
          <p:nvPr/>
        </p:nvSpPr>
        <p:spPr>
          <a:xfrm>
            <a:off x="7218413" y="1819258"/>
            <a:ext cx="4973587" cy="4009647"/>
          </a:xfrm>
          <a:prstGeom prst="rect">
            <a:avLst/>
          </a:prstGeom>
          <a:noFill/>
          <a:ln/>
        </p:spPr>
        <p:txBody>
          <a:bodyPr wrap="square" lIns="0" tIns="0" rIns="0" bIns="0" rtlCol="0" anchor="ctr"/>
          <a:lstStyle/>
          <a:p>
            <a:pPr marL="0" indent="0">
              <a:buNone/>
            </a:pPr>
            <a:r>
              <a:rPr lang="en-US" dirty="0" smtClean="0"/>
              <a:t>-Accelerometers attached to each bolt on a fishplate.</a:t>
            </a:r>
          </a:p>
          <a:p>
            <a:pPr marL="0" indent="0">
              <a:buNone/>
            </a:pPr>
            <a:r>
              <a:rPr lang="en-US" dirty="0" smtClean="0"/>
              <a:t>-These accelerometers to detect the vibration of the bolts</a:t>
            </a:r>
          </a:p>
          <a:p>
            <a:pPr marL="0" indent="0">
              <a:buNone/>
            </a:pPr>
            <a:r>
              <a:rPr lang="en-US" dirty="0" smtClean="0"/>
              <a:t>-Data sent to control room of the station</a:t>
            </a:r>
          </a:p>
          <a:p>
            <a:pPr marL="0" indent="0">
              <a:buNone/>
            </a:pPr>
            <a:r>
              <a:rPr lang="en-US" dirty="0" smtClean="0"/>
              <a:t>-</a:t>
            </a:r>
            <a:r>
              <a:rPr lang="en-US" dirty="0"/>
              <a:t>W</a:t>
            </a:r>
            <a:r>
              <a:rPr lang="en-US" dirty="0" smtClean="0"/>
              <a:t>orkers dispatched directly to the specific loose bolts</a:t>
            </a:r>
          </a:p>
          <a:p>
            <a:pPr marL="0" indent="0">
              <a:buNone/>
            </a:pPr>
            <a:r>
              <a:rPr lang="en-US" dirty="0" smtClean="0"/>
              <a:t>-Rather than workers checking every bolt.</a:t>
            </a:r>
          </a:p>
        </p:txBody>
      </p:sp>
      <p:pic>
        <p:nvPicPr>
          <p:cNvPr id="5" name="Picture 4">
            <a:extLst>
              <a:ext uri="{FF2B5EF4-FFF2-40B4-BE49-F238E27FC236}">
                <a16:creationId xmlns:a16="http://schemas.microsoft.com/office/drawing/2014/main" id="{82888203-A06D-F8BF-7190-F540D76FF2DF}"/>
              </a:ext>
            </a:extLst>
          </p:cNvPr>
          <p:cNvPicPr>
            <a:picLocks noChangeAspect="1"/>
          </p:cNvPicPr>
          <p:nvPr/>
        </p:nvPicPr>
        <p:blipFill>
          <a:blip r:embed="rId3"/>
          <a:stretch>
            <a:fillRect/>
          </a:stretch>
        </p:blipFill>
        <p:spPr>
          <a:xfrm>
            <a:off x="0" y="1507001"/>
            <a:ext cx="7218413" cy="4634163"/>
          </a:xfrm>
          <a:prstGeom prst="rect">
            <a:avLst/>
          </a:prstGeom>
        </p:spPr>
      </p:pic>
      <p:sp>
        <p:nvSpPr>
          <p:cNvPr id="6" name="TextBox 5"/>
          <p:cNvSpPr txBox="1"/>
          <p:nvPr/>
        </p:nvSpPr>
        <p:spPr>
          <a:xfrm>
            <a:off x="7605346" y="1945351"/>
            <a:ext cx="3989949" cy="707886"/>
          </a:xfrm>
          <a:prstGeom prst="rect">
            <a:avLst/>
          </a:prstGeom>
          <a:noFill/>
        </p:spPr>
        <p:txBody>
          <a:bodyPr wrap="square" rtlCol="0">
            <a:spAutoFit/>
          </a:bodyPr>
          <a:lstStyle/>
          <a:p>
            <a:r>
              <a:rPr lang="en-US" sz="4000" b="1" dirty="0" smtClean="0"/>
              <a:t>High Level Steps</a:t>
            </a:r>
            <a:endParaRPr lang="en-IN" sz="4000" b="1"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9184"/>
            <a:ext cx="11064240" cy="777240"/>
          </a:xfrm>
          <a:prstGeom prst="rect">
            <a:avLst/>
          </a:prstGeom>
          <a:noFill/>
          <a:ln/>
        </p:spPr>
        <p:txBody>
          <a:bodyPr wrap="square" lIns="0" tIns="0" rIns="0" bIns="0" rtlCol="0" anchor="ctr"/>
          <a:lstStyle/>
          <a:p>
            <a:pPr marL="0" indent="0" algn="l">
              <a:buNone/>
            </a:pPr>
            <a:r>
              <a:rPr lang="en-US" sz="3200" b="1" dirty="0">
                <a:solidFill>
                  <a:srgbClr val="102A43"/>
                </a:solidFill>
                <a:latin typeface="Calibri" pitchFamily="34" charset="0"/>
                <a:ea typeface="Calibri" pitchFamily="34" charset="-122"/>
                <a:cs typeface="Calibri" pitchFamily="34" charset="-120"/>
              </a:rPr>
              <a:t>Manual vs Rail-Guard</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2809783657"/>
              </p:ext>
            </p:extLst>
          </p:nvPr>
        </p:nvGraphicFramePr>
        <p:xfrm>
          <a:off x="548640" y="1691640"/>
          <a:ext cx="11064240" cy="3749040"/>
        </p:xfrm>
        <a:graphic>
          <a:graphicData uri="http://schemas.openxmlformats.org/drawingml/2006/table">
            <a:tbl>
              <a:tblPr/>
              <a:tblGrid>
                <a:gridCol w="27432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640080">
                <a:tc>
                  <a:txBody>
                    <a:bodyPr/>
                    <a:lstStyle/>
                    <a:p>
                      <a:pPr marL="0" indent="0" algn="ctr">
                        <a:buNone/>
                      </a:pPr>
                      <a:endParaRPr lang="en-US" sz="1700" dirty="0"/>
                    </a:p>
                  </a:txBody>
                  <a:tcPr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102A43"/>
                    </a:solidFill>
                  </a:tcPr>
                </a:tc>
                <a:tc>
                  <a:txBody>
                    <a:bodyPr/>
                    <a:lstStyle/>
                    <a:p>
                      <a:pPr marL="0" indent="0" algn="ctr">
                        <a:buNone/>
                      </a:pPr>
                      <a:r>
                        <a:rPr lang="en-US" sz="1700" b="1" dirty="0">
                          <a:solidFill>
                            <a:srgbClr val="FFFFFF"/>
                          </a:solidFill>
                        </a:rPr>
                        <a:t>Manual — today</a:t>
                      </a:r>
                      <a:endParaRPr lang="en-US" sz="1700" dirty="0"/>
                    </a:p>
                  </a:txBody>
                  <a:tcPr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8090A0"/>
                    </a:solidFill>
                  </a:tcPr>
                </a:tc>
                <a:tc>
                  <a:txBody>
                    <a:bodyPr/>
                    <a:lstStyle/>
                    <a:p>
                      <a:pPr marL="0" indent="0" algn="ctr">
                        <a:buNone/>
                      </a:pPr>
                      <a:r>
                        <a:rPr lang="en-US" sz="1700" b="1" dirty="0">
                          <a:solidFill>
                            <a:srgbClr val="FFFFFF"/>
                          </a:solidFill>
                        </a:rPr>
                        <a:t>Rail-Guard</a:t>
                      </a:r>
                      <a:endParaRPr lang="en-US" sz="1700" dirty="0"/>
                    </a:p>
                  </a:txBody>
                  <a:tcPr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9A825"/>
                    </a:solidFill>
                  </a:tcPr>
                </a:tc>
                <a:extLst>
                  <a:ext uri="{0D108BD9-81ED-4DB2-BD59-A6C34878D82A}">
                    <a16:rowId xmlns:a16="http://schemas.microsoft.com/office/drawing/2014/main" val="10000"/>
                  </a:ext>
                </a:extLst>
              </a:tr>
              <a:tr h="777240">
                <a:tc>
                  <a:txBody>
                    <a:bodyPr/>
                    <a:lstStyle/>
                    <a:p>
                      <a:pPr marL="0" indent="0" algn="l">
                        <a:buNone/>
                      </a:pPr>
                      <a:r>
                        <a:rPr lang="en-US" sz="1500" b="1" dirty="0" smtClean="0">
                          <a:solidFill>
                            <a:srgbClr val="102A43"/>
                          </a:solidFill>
                        </a:rPr>
                        <a:t>Maintenance</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tc>
                  <a:txBody>
                    <a:bodyPr/>
                    <a:lstStyle/>
                    <a:p>
                      <a:pPr marL="0" indent="0" algn="l">
                        <a:buNone/>
                      </a:pPr>
                      <a:r>
                        <a:rPr lang="en-US" sz="1500" dirty="0" smtClean="0">
                          <a:solidFill>
                            <a:srgbClr val="102A43"/>
                          </a:solidFill>
                        </a:rPr>
                        <a:t>Regular Maintenance</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tc>
                  <a:txBody>
                    <a:bodyPr/>
                    <a:lstStyle/>
                    <a:p>
                      <a:pPr marL="0" indent="0" algn="l">
                        <a:buNone/>
                      </a:pPr>
                      <a:r>
                        <a:rPr lang="en-US" sz="1500" dirty="0" smtClean="0">
                          <a:solidFill>
                            <a:srgbClr val="102A43"/>
                          </a:solidFill>
                        </a:rPr>
                        <a:t>Predictive</a:t>
                      </a:r>
                      <a:r>
                        <a:rPr lang="en-US" sz="1500" baseline="0" dirty="0" smtClean="0">
                          <a:solidFill>
                            <a:srgbClr val="102A43"/>
                          </a:solidFill>
                        </a:rPr>
                        <a:t> Maintenance</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lgn="l">
                        <a:buNone/>
                      </a:pPr>
                      <a:r>
                        <a:rPr lang="en-US" sz="1500" b="1" dirty="0" smtClean="0">
                          <a:solidFill>
                            <a:srgbClr val="102A43"/>
                          </a:solidFill>
                        </a:rPr>
                        <a:t>Effectiveness</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tc>
                  <a:txBody>
                    <a:bodyPr/>
                    <a:lstStyle/>
                    <a:p>
                      <a:pPr marL="0" indent="0" algn="l">
                        <a:buNone/>
                      </a:pPr>
                      <a:r>
                        <a:rPr lang="en-US" sz="1500" dirty="0" smtClean="0">
                          <a:solidFill>
                            <a:srgbClr val="102A43"/>
                          </a:solidFill>
                        </a:rPr>
                        <a:t>Not</a:t>
                      </a:r>
                      <a:r>
                        <a:rPr lang="en-US" sz="1500" baseline="0" dirty="0" smtClean="0">
                          <a:solidFill>
                            <a:srgbClr val="102A43"/>
                          </a:solidFill>
                        </a:rPr>
                        <a:t> Optimal</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tc>
                  <a:txBody>
                    <a:bodyPr/>
                    <a:lstStyle/>
                    <a:p>
                      <a:pPr marL="0" indent="0" algn="l">
                        <a:buNone/>
                      </a:pPr>
                      <a:r>
                        <a:rPr lang="en-US" sz="1500" dirty="0" smtClean="0"/>
                        <a:t>Optimal</a:t>
                      </a:r>
                      <a:r>
                        <a:rPr lang="en-US" sz="1500" baseline="0" dirty="0" smtClean="0"/>
                        <a:t> Approach</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500" b="1" dirty="0">
                          <a:solidFill>
                            <a:srgbClr val="102A43"/>
                          </a:solidFill>
                        </a:rPr>
                        <a:t>Over-tightening</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02A43"/>
                          </a:solidFill>
                        </a:rPr>
                        <a:t>Undetectable</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02A43"/>
                          </a:solidFill>
                        </a:rPr>
                        <a:t>Detected</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lgn="l">
                        <a:buNone/>
                      </a:pPr>
                      <a:r>
                        <a:rPr lang="en-US" sz="1500" b="1" dirty="0">
                          <a:solidFill>
                            <a:srgbClr val="102A43"/>
                          </a:solidFill>
                        </a:rPr>
                        <a:t>Worker's </a:t>
                      </a:r>
                      <a:r>
                        <a:rPr lang="en-US" sz="1500" b="1" dirty="0" smtClean="0">
                          <a:solidFill>
                            <a:srgbClr val="102A43"/>
                          </a:solidFill>
                        </a:rPr>
                        <a:t>role</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tc>
                  <a:txBody>
                    <a:bodyPr/>
                    <a:lstStyle/>
                    <a:p>
                      <a:pPr marL="0" indent="0" algn="l">
                        <a:buNone/>
                      </a:pPr>
                      <a:r>
                        <a:rPr lang="en-US" sz="1500" dirty="0" smtClean="0">
                          <a:solidFill>
                            <a:srgbClr val="102A43"/>
                          </a:solidFill>
                        </a:rPr>
                        <a:t>Searching for the loose bolts</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tc>
                  <a:txBody>
                    <a:bodyPr/>
                    <a:lstStyle/>
                    <a:p>
                      <a:pPr marL="0" indent="0" algn="l">
                        <a:buNone/>
                      </a:pPr>
                      <a:r>
                        <a:rPr lang="en-US" sz="1500" baseline="0" dirty="0" smtClean="0">
                          <a:solidFill>
                            <a:srgbClr val="102A43"/>
                          </a:solidFill>
                        </a:rPr>
                        <a:t>Tightening the loose bolts</a:t>
                      </a:r>
                      <a:endParaRPr lang="en-US" sz="1500" dirty="0"/>
                    </a:p>
                  </a:txBody>
                  <a:tcPr marL="76200" marR="76200" marT="76200" marB="76200" anchor="ctr">
                    <a:lnL w="12700" cap="flat" cmpd="sng" algn="ctr">
                      <a:solidFill>
                        <a:srgbClr val="D9E2EC"/>
                      </a:solidFill>
                      <a:prstDash val="solid"/>
                      <a:round/>
                      <a:headEnd type="none" w="med" len="med"/>
                      <a:tailEnd type="none" w="med" len="med"/>
                    </a:lnL>
                    <a:lnR w="12700" cap="flat" cmpd="sng" algn="ctr">
                      <a:solidFill>
                        <a:srgbClr val="D9E2EC"/>
                      </a:solidFill>
                      <a:prstDash val="solid"/>
                      <a:round/>
                      <a:headEnd type="none" w="med" len="med"/>
                      <a:tailEnd type="none" w="med" len="med"/>
                    </a:lnR>
                    <a:lnT w="12700" cap="flat" cmpd="sng" algn="ctr">
                      <a:solidFill>
                        <a:srgbClr val="D9E2EC"/>
                      </a:solidFill>
                      <a:prstDash val="solid"/>
                      <a:round/>
                      <a:headEnd type="none" w="med" len="med"/>
                      <a:tailEnd type="none" w="med" len="med"/>
                    </a:lnT>
                    <a:lnB w="12700" cap="flat" cmpd="sng" algn="ctr">
                      <a:solidFill>
                        <a:srgbClr val="D9E2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9184"/>
            <a:ext cx="11064240" cy="777240"/>
          </a:xfrm>
          <a:prstGeom prst="rect">
            <a:avLst/>
          </a:prstGeom>
          <a:noFill/>
          <a:ln/>
        </p:spPr>
        <p:txBody>
          <a:bodyPr wrap="square" lIns="0" tIns="0" rIns="0" bIns="0" rtlCol="0" anchor="ctr"/>
          <a:lstStyle/>
          <a:p>
            <a:pPr marL="0" indent="0" algn="l">
              <a:buNone/>
            </a:pPr>
            <a:r>
              <a:rPr lang="en-US" sz="3200" b="1" dirty="0">
                <a:solidFill>
                  <a:srgbClr val="102A43"/>
                </a:solidFill>
                <a:latin typeface="Calibri" pitchFamily="34" charset="0"/>
                <a:ea typeface="Calibri" pitchFamily="34" charset="-122"/>
                <a:cs typeface="Calibri" pitchFamily="34" charset="-120"/>
              </a:rPr>
              <a:t>Proving it on a </a:t>
            </a:r>
            <a:r>
              <a:rPr lang="en-US" sz="3200" b="1" dirty="0" smtClean="0">
                <a:solidFill>
                  <a:srgbClr val="102A43"/>
                </a:solidFill>
                <a:latin typeface="Calibri" pitchFamily="34" charset="0"/>
                <a:ea typeface="Calibri" pitchFamily="34" charset="-122"/>
                <a:cs typeface="Calibri" pitchFamily="34" charset="-120"/>
              </a:rPr>
              <a:t>Model </a:t>
            </a:r>
            <a:r>
              <a:rPr lang="en-US" sz="3200" b="1" dirty="0">
                <a:solidFill>
                  <a:srgbClr val="102A43"/>
                </a:solidFill>
                <a:latin typeface="Calibri" pitchFamily="34" charset="0"/>
                <a:ea typeface="Calibri" pitchFamily="34" charset="-122"/>
                <a:cs typeface="Calibri" pitchFamily="34" charset="-120"/>
              </a:rPr>
              <a:t>T</a:t>
            </a:r>
            <a:r>
              <a:rPr lang="en-US" sz="3200" b="1" dirty="0" smtClean="0">
                <a:solidFill>
                  <a:srgbClr val="102A43"/>
                </a:solidFill>
                <a:latin typeface="Calibri" pitchFamily="34" charset="0"/>
                <a:ea typeface="Calibri" pitchFamily="34" charset="-122"/>
                <a:cs typeface="Calibri" pitchFamily="34" charset="-120"/>
              </a:rPr>
              <a:t>rack</a:t>
            </a:r>
            <a:endParaRPr lang="en-US" sz="3200" dirty="0"/>
          </a:p>
        </p:txBody>
      </p:sp>
      <p:sp>
        <p:nvSpPr>
          <p:cNvPr id="4" name="Text 1"/>
          <p:cNvSpPr/>
          <p:nvPr/>
        </p:nvSpPr>
        <p:spPr>
          <a:xfrm>
            <a:off x="7479335" y="1554480"/>
            <a:ext cx="4133545" cy="3291840"/>
          </a:xfrm>
          <a:prstGeom prst="rect">
            <a:avLst/>
          </a:prstGeom>
          <a:noFill/>
          <a:ln/>
        </p:spPr>
        <p:txBody>
          <a:bodyPr wrap="square" lIns="0" tIns="0" rIns="0" bIns="0" rtlCol="0" anchor="ctr"/>
          <a:lstStyle/>
          <a:p>
            <a:pPr marL="228600" indent="-228600">
              <a:spcAft>
                <a:spcPts val="1000"/>
              </a:spcAft>
              <a:buSzPct val="100000"/>
              <a:buChar char="•"/>
            </a:pPr>
            <a:r>
              <a:rPr lang="en-US" sz="1550" dirty="0">
                <a:solidFill>
                  <a:srgbClr val="102A43"/>
                </a:solidFill>
                <a:latin typeface="Calibri" pitchFamily="34" charset="0"/>
                <a:ea typeface="Calibri" pitchFamily="34" charset="-122"/>
                <a:cs typeface="Calibri" pitchFamily="34" charset="-120"/>
              </a:rPr>
              <a:t>ESP32-S3 controller (WiFi built in)</a:t>
            </a:r>
            <a:endParaRPr lang="en-US" sz="1550" dirty="0"/>
          </a:p>
          <a:p>
            <a:pPr marL="228600" indent="-228600">
              <a:spcAft>
                <a:spcPts val="1000"/>
              </a:spcAft>
              <a:buSzPct val="100000"/>
              <a:buChar char="•"/>
            </a:pPr>
            <a:r>
              <a:rPr lang="en-US" sz="1550" dirty="0">
                <a:solidFill>
                  <a:srgbClr val="102A43"/>
                </a:solidFill>
                <a:latin typeface="Calibri" pitchFamily="34" charset="0"/>
                <a:ea typeface="Calibri" pitchFamily="34" charset="-122"/>
                <a:cs typeface="Calibri" pitchFamily="34" charset="-120"/>
              </a:rPr>
              <a:t>5 accelerometers — one per joint — via an I²C multiplexer</a:t>
            </a:r>
            <a:endParaRPr lang="en-US" sz="1550" dirty="0"/>
          </a:p>
          <a:p>
            <a:pPr marL="228600" indent="-228600">
              <a:spcAft>
                <a:spcPts val="1000"/>
              </a:spcAft>
              <a:buSzPct val="100000"/>
              <a:buChar char="•"/>
            </a:pPr>
            <a:r>
              <a:rPr lang="en-US" sz="1550" dirty="0">
                <a:solidFill>
                  <a:srgbClr val="102A43"/>
                </a:solidFill>
                <a:latin typeface="Calibri" pitchFamily="34" charset="0"/>
                <a:ea typeface="Calibri" pitchFamily="34" charset="-122"/>
                <a:cs typeface="Calibri" pitchFamily="34" charset="-120"/>
              </a:rPr>
              <a:t>Load cell measures real bolt force (the over-tightening case)</a:t>
            </a:r>
            <a:endParaRPr lang="en-US" sz="1550" dirty="0"/>
          </a:p>
          <a:p>
            <a:pPr marL="228600" indent="-228600">
              <a:spcAft>
                <a:spcPts val="1000"/>
              </a:spcAft>
              <a:buSzPct val="100000"/>
              <a:buChar char="•"/>
            </a:pPr>
            <a:r>
              <a:rPr lang="en-US" sz="1550" dirty="0">
                <a:solidFill>
                  <a:srgbClr val="102A43"/>
                </a:solidFill>
                <a:latin typeface="Calibri" pitchFamily="34" charset="0"/>
                <a:ea typeface="Calibri" pitchFamily="34" charset="-122"/>
                <a:cs typeface="Calibri" pitchFamily="34" charset="-120"/>
              </a:rPr>
              <a:t>Vibration motors simulate passing trains</a:t>
            </a:r>
            <a:endParaRPr lang="en-US" sz="1550" dirty="0"/>
          </a:p>
          <a:p>
            <a:pPr marL="228600" indent="-228600">
              <a:spcAft>
                <a:spcPts val="1000"/>
              </a:spcAft>
              <a:buSzPct val="100000"/>
              <a:buChar char="•"/>
            </a:pPr>
            <a:r>
              <a:rPr lang="en-US" sz="1550" dirty="0">
                <a:solidFill>
                  <a:srgbClr val="102A43"/>
                </a:solidFill>
                <a:latin typeface="Calibri" pitchFamily="34" charset="0"/>
                <a:ea typeface="Calibri" pitchFamily="34" charset="-122"/>
                <a:cs typeface="Calibri" pitchFamily="34" charset="-120"/>
              </a:rPr>
              <a:t>Green / red LEDs + live WiFi dashboard</a:t>
            </a:r>
            <a:endParaRPr lang="en-US" sz="1550" dirty="0"/>
          </a:p>
        </p:txBody>
      </p:sp>
      <p:sp>
        <p:nvSpPr>
          <p:cNvPr id="5" name="Text 2"/>
          <p:cNvSpPr/>
          <p:nvPr/>
        </p:nvSpPr>
        <p:spPr>
          <a:xfrm>
            <a:off x="7479335" y="5212080"/>
            <a:ext cx="4133545" cy="731520"/>
          </a:xfrm>
          <a:prstGeom prst="rect">
            <a:avLst/>
          </a:prstGeom>
          <a:noFill/>
          <a:ln/>
        </p:spPr>
        <p:txBody>
          <a:bodyPr wrap="square" lIns="0" tIns="0" rIns="0" bIns="0" rtlCol="0" anchor="ctr"/>
          <a:lstStyle/>
          <a:p>
            <a:pPr marL="0" indent="0">
              <a:buNone/>
            </a:pPr>
            <a:r>
              <a:rPr lang="en-US" sz="1300" i="1" dirty="0">
                <a:solidFill>
                  <a:srgbClr val="486581"/>
                </a:solidFill>
                <a:latin typeface="Calibri" pitchFamily="34" charset="0"/>
                <a:ea typeface="Calibri" pitchFamily="34" charset="-122"/>
                <a:cs typeface="Calibri" pitchFamily="34" charset="-120"/>
              </a:rPr>
              <a:t>A scaled prototype of the real train-mounted concept.</a:t>
            </a:r>
            <a:endParaRPr lang="en-US" sz="1300" dirty="0"/>
          </a:p>
        </p:txBody>
      </p:sp>
      <p:pic>
        <p:nvPicPr>
          <p:cNvPr id="6" name="Picture 5">
            <a:extLst>
              <a:ext uri="{FF2B5EF4-FFF2-40B4-BE49-F238E27FC236}">
                <a16:creationId xmlns:a16="http://schemas.microsoft.com/office/drawing/2014/main" id="{45E59F8F-1146-E83A-4CD9-426B392B59F6}"/>
              </a:ext>
            </a:extLst>
          </p:cNvPr>
          <p:cNvPicPr>
            <a:picLocks noChangeAspect="1"/>
          </p:cNvPicPr>
          <p:nvPr/>
        </p:nvPicPr>
        <p:blipFill>
          <a:blip r:embed="rId3"/>
          <a:stretch>
            <a:fillRect/>
          </a:stretch>
        </p:blipFill>
        <p:spPr>
          <a:xfrm>
            <a:off x="275896" y="1554480"/>
            <a:ext cx="6458799" cy="4294549"/>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102A43"/>
        </a:solidFill>
        <a:effectLst/>
      </p:bgPr>
    </p:bg>
    <p:spTree>
      <p:nvGrpSpPr>
        <p:cNvPr id="1" name=""/>
        <p:cNvGrpSpPr/>
        <p:nvPr/>
      </p:nvGrpSpPr>
      <p:grpSpPr>
        <a:xfrm>
          <a:off x="0" y="0"/>
          <a:ext cx="0" cy="0"/>
          <a:chOff x="0" y="0"/>
          <a:chExt cx="0" cy="0"/>
        </a:xfrm>
      </p:grpSpPr>
      <p:sp>
        <p:nvSpPr>
          <p:cNvPr id="2" name="Text 0"/>
          <p:cNvSpPr/>
          <p:nvPr/>
        </p:nvSpPr>
        <p:spPr>
          <a:xfrm>
            <a:off x="346417" y="2759026"/>
            <a:ext cx="11064240" cy="1005840"/>
          </a:xfrm>
          <a:prstGeom prst="rect">
            <a:avLst/>
          </a:prstGeom>
          <a:noFill/>
          <a:ln/>
        </p:spPr>
        <p:txBody>
          <a:bodyPr wrap="square" lIns="0" tIns="0" rIns="0" bIns="0" rtlCol="0" anchor="ctr"/>
          <a:lstStyle/>
          <a:p>
            <a:pPr marL="0" indent="0" algn="ctr">
              <a:buNone/>
            </a:pPr>
            <a:r>
              <a:rPr lang="en-US" sz="5400" b="1" dirty="0">
                <a:solidFill>
                  <a:srgbClr val="FFFFFF"/>
                </a:solidFill>
                <a:latin typeface="Calibri" pitchFamily="34" charset="0"/>
                <a:ea typeface="Calibri" pitchFamily="34" charset="-122"/>
                <a:cs typeface="Calibri" pitchFamily="34" charset="-120"/>
              </a:rPr>
              <a:t>Thank you</a:t>
            </a:r>
            <a:endParaRPr lang="en-US" sz="5400" dirty="0"/>
          </a:p>
        </p:txBody>
      </p:sp>
      <p:sp>
        <p:nvSpPr>
          <p:cNvPr id="4" name="Text 2"/>
          <p:cNvSpPr/>
          <p:nvPr/>
        </p:nvSpPr>
        <p:spPr>
          <a:xfrm>
            <a:off x="548640" y="5989320"/>
            <a:ext cx="11064240" cy="640080"/>
          </a:xfrm>
          <a:prstGeom prst="rect">
            <a:avLst/>
          </a:prstGeom>
          <a:noFill/>
          <a:ln/>
        </p:spPr>
        <p:txBody>
          <a:bodyPr wrap="square" lIns="0" tIns="0" rIns="0" bIns="0" rtlCol="0" anchor="ctr"/>
          <a:lstStyle/>
          <a:p>
            <a:pPr marL="0" indent="0" algn="ctr">
              <a:buNone/>
            </a:pPr>
            <a:r>
              <a:rPr lang="en-US" sz="1100" b="1" dirty="0">
                <a:solidFill>
                  <a:srgbClr val="CADCFC"/>
                </a:solidFill>
                <a:latin typeface="Calibri" pitchFamily="34" charset="0"/>
                <a:ea typeface="Calibri" pitchFamily="34" charset="-122"/>
                <a:cs typeface="Calibri" pitchFamily="34" charset="-120"/>
              </a:rPr>
              <a:t>Sources:  </a:t>
            </a:r>
            <a:r>
              <a:rPr lang="en-US" sz="1100" dirty="0">
                <a:solidFill>
                  <a:srgbClr val="9FB3C8"/>
                </a:solidFill>
                <a:latin typeface="Calibri" pitchFamily="34" charset="0"/>
                <a:ea typeface="Calibri" pitchFamily="34" charset="-122"/>
                <a:cs typeface="Calibri" pitchFamily="34" charset="-120"/>
              </a:rPr>
              <a:t>Indian Railways route length — Wikipedia / official data 2024  ·  Keyman walking distance — TrackoBit, Lystloc; IR Permanent Way Manual  ·  Hazara Express — Dawn, 2023  ·  Kavaraipettai — The Week, 2024  ·  Surat — Deccan Herald, 2024</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779</TotalTime>
  <Words>1157</Words>
  <Application>Microsoft Office PowerPoint</Application>
  <PresentationFormat>Widescreen</PresentationFormat>
  <Paragraphs>92</Paragraphs>
  <Slides>9</Slides>
  <Notes>9</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Rail-Guard</dc:title>
  <dc:subject>PptxGenJS Presentation</dc:subject>
  <dc:creator>Mohit</dc:creator>
  <cp:lastModifiedBy>Mohit Sheth</cp:lastModifiedBy>
  <cp:revision>15</cp:revision>
  <dcterms:created xsi:type="dcterms:W3CDTF">2026-06-18T03:39:51Z</dcterms:created>
  <dcterms:modified xsi:type="dcterms:W3CDTF">2026-06-20T05:31:24Z</dcterms:modified>
</cp:coreProperties>
</file>